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5bd2a2e994ddf" /><Relationship Type="http://schemas.openxmlformats.org/officeDocument/2006/relationships/extended-properties" Target="/docProps/app.xml" Id="Rf84f40362a494ed8" /><Relationship Type="http://schemas.openxmlformats.org/officeDocument/2006/relationships/officeDocument" Target="/ppt/presentation.xml" Id="R89536b76af45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749ea9646c4810"/>
  </p:sldMasterIdLst>
  <p:notesMasterIdLst>
    <p:notesMasterId xmlns:r="http://schemas.openxmlformats.org/officeDocument/2006/relationships" r:id="Rbfbde50331424bae"/>
  </p:notesMasterIdLst>
  <p:sldIdLst>
    <p:sldId xmlns:r="http://schemas.openxmlformats.org/officeDocument/2006/relationships" id="256" r:id="Raef1061752dc4cad"/>
    <p:sldId xmlns:r="http://schemas.openxmlformats.org/officeDocument/2006/relationships" id="257" r:id="R402051a0fa9d488b"/>
    <p:sldId xmlns:r="http://schemas.openxmlformats.org/officeDocument/2006/relationships" id="258" r:id="Rc7145c44d9f14565"/>
    <p:sldId xmlns:r="http://schemas.openxmlformats.org/officeDocument/2006/relationships" id="259" r:id="Ra182ed8c7bc64106"/>
    <p:sldId xmlns:r="http://schemas.openxmlformats.org/officeDocument/2006/relationships" id="260" r:id="Ra355765de8234a83"/>
    <p:sldId xmlns:r="http://schemas.openxmlformats.org/officeDocument/2006/relationships" id="261" r:id="Rd54d14143edf42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1d27d3c6d4a87" /><Relationship Type="http://schemas.openxmlformats.org/officeDocument/2006/relationships/slideMaster" Target="/ppt/slideMasters/slideMaster1.xml" Id="R1e749ea9646c4810" /><Relationship Type="http://schemas.openxmlformats.org/officeDocument/2006/relationships/notesMaster" Target="/ppt/notesMasters/notesMaster1.xml" Id="Rbfbde50331424bae" /><Relationship Type="http://schemas.openxmlformats.org/officeDocument/2006/relationships/presProps" Target="/ppt/presProps.xml" Id="R706ce92c6736406e" /><Relationship Type="http://schemas.openxmlformats.org/officeDocument/2006/relationships/tableStyles" Target="/ppt/tableStyles.xml" Id="R098d02bf81f54fc1" /><Relationship Type="http://schemas.openxmlformats.org/officeDocument/2006/relationships/slide" Target="/ppt/slides/slide1.xml" Id="Raef1061752dc4cad" /><Relationship Type="http://schemas.openxmlformats.org/officeDocument/2006/relationships/slide" Target="/ppt/slides/slide2.xml" Id="R402051a0fa9d488b" /><Relationship Type="http://schemas.openxmlformats.org/officeDocument/2006/relationships/slide" Target="/ppt/slides/slide3.xml" Id="Rc7145c44d9f14565" /><Relationship Type="http://schemas.openxmlformats.org/officeDocument/2006/relationships/slide" Target="/ppt/slides/slide4.xml" Id="Ra182ed8c7bc64106" /><Relationship Type="http://schemas.openxmlformats.org/officeDocument/2006/relationships/slide" Target="/ppt/slides/slide5.xml" Id="Ra355765de8234a83" /><Relationship Type="http://schemas.openxmlformats.org/officeDocument/2006/relationships/slide" Target="/ppt/slides/slide6.xml" Id="Rd54d14143edf42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3d400369b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f59047fe74c28" /><Relationship Type="http://schemas.openxmlformats.org/officeDocument/2006/relationships/notesMaster" Target="/ppt/notesMasters/notesMaster1.xml" Id="Rbbc1a2c975324e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81d16d236473a" /><Relationship Type="http://schemas.openxmlformats.org/officeDocument/2006/relationships/notesMaster" Target="/ppt/notesMasters/notesMaster1.xml" Id="R35c3f4efe7ef4e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c733537e548c5" /><Relationship Type="http://schemas.openxmlformats.org/officeDocument/2006/relationships/notesMaster" Target="/ppt/notesMasters/notesMaster1.xml" Id="R5ab3096a8af941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15252617c04953" /><Relationship Type="http://schemas.openxmlformats.org/officeDocument/2006/relationships/notesMaster" Target="/ppt/notesMasters/notesMaster1.xml" Id="R327befcb9418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11f5bf730e40ff" /><Relationship Type="http://schemas.openxmlformats.org/officeDocument/2006/relationships/notesMaster" Target="/ppt/notesMasters/notesMaster1.xml" Id="R87c939b257bd4b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777f1695a4198" /><Relationship Type="http://schemas.openxmlformats.org/officeDocument/2006/relationships/notesMaster" Target="/ppt/notesMasters/notesMaster1.xml" Id="Rf2a20e5ac65b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97174d5b3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b1e139e30409d" /><Relationship Type="http://schemas.openxmlformats.org/officeDocument/2006/relationships/slideLayout" Target="/ppt/slideLayouts/slideLayout1.xml" Id="R61f822f28b1440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822f28b1440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2b5299fc54069" /><Relationship Type="http://schemas.openxmlformats.org/officeDocument/2006/relationships/image" Target="/ppt/media/image.png" Id="R19675a3889144d20" /><Relationship Type="http://schemas.openxmlformats.org/officeDocument/2006/relationships/notesSlide" Target="/ppt/notesSlides/notesSlide1.xml" Id="R5ff9429a73de4e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5ecce22934907" /><Relationship Type="http://schemas.openxmlformats.org/officeDocument/2006/relationships/notesSlide" Target="/ppt/notesSlides/notesSlide2.xml" Id="R9cc73cadea80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a6255b258452a" /><Relationship Type="http://schemas.openxmlformats.org/officeDocument/2006/relationships/notesSlide" Target="/ppt/notesSlides/notesSlide3.xml" Id="R532b77419f364d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e304a46a24301" /><Relationship Type="http://schemas.openxmlformats.org/officeDocument/2006/relationships/notesSlide" Target="/ppt/notesSlides/notesSlide4.xml" Id="Rfee8073d66e14b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57111a7344b06" /><Relationship Type="http://schemas.openxmlformats.org/officeDocument/2006/relationships/notesSlide" Target="/ppt/notesSlides/notesSlide5.xml" Id="R78a51ed1abc249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5716ccdb4ea2" /><Relationship Type="http://schemas.openxmlformats.org/officeDocument/2006/relationships/notesSlide" Target="/ppt/notesSlides/notesSlide6.xml" Id="R37bb2b46e11440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75a3889144d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F881E1A-A1B9-4C75-A76E-48A902C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AMD DEVELOPER HACKATHON ACT II // TRACK 1</a:t>
            </a:r>
          </a:p>
        </p:txBody>
      </p:sp>
    </p:spTree>
    <p:extLst>
      <p:ext uri="{BB962C8B-B14F-4D97-AF65-F5344CB8AC3E}">
        <p14:creationId xmlns:p14="http://schemas.microsoft.com/office/powerpoint/2010/main" val="63552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AFF73-1B20-4038-895C-1C02D448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F278B144-C6FE-4AA3-B44D-B59F369E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6892670F-EDEC-42AF-BA84-53583F0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02 / 06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DA85C51E-2270-4573-BDFB-545352B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Not every query should pay the full price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F162-C35C-41A2-89A8-83ACCD79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7351891A-5CA2-4193-B05B-D35841E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DF"/>
                </a:solidFill>
              </a:defRPr>
            </a:pPr>
            <a:r>
              <a:rPr sz="2100" b="1">
                <a:solidFill>
                  <a:srgbClr val="F4F1DF"/>
                </a:solidFill>
              </a:rPr>
              <a:t>ProofRoute turns inference cost into a decision.</a:t>
            </a:r>
          </a:p>
        </p:txBody>
      </p:sp>
      <p:sp>
        <p:nvSpPr>
          <p:cNvPr id="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BAED405D-60B4-43AF-B8BB-340F13C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D"/>
                </a:solidFill>
              </a:defRPr>
            </a:pPr>
            <a:r>
              <a:rPr sz="1500" b="0">
                <a:solidFill>
                  <a:srgbClr val="A8B8AD"/>
                </a:solidFill>
              </a:rPr>
              <a:t>Prove deterministic work locally. Use calibrated local intelligence only where evidence supports it. Buy remote intelligence when uncertainty demands it.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112BE27-F210-45E6-9BE0-7771381E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Accuracy is the gate. Token efficiency is the advantage.</a:t>
            </a:r>
          </a:p>
        </p:txBody>
      </p:sp>
      <p:sp>
        <p:nvSpPr>
          <p:cNvPr id="9" name="cost-frame">
            <a:extLst xmlns:a="http://schemas.openxmlformats.org/drawingml/2006/main">
              <a:ext uri="{FF2B5EF4-FFF2-40B4-BE49-F238E27FC236}">
                <a16:creationId xmlns:a16="http://schemas.microsoft.com/office/drawing/2014/main" id="{A3B868C2-84DD-49B5-B061-758F0DE0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005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0" name="old-label">
            <a:extLst xmlns:a="http://schemas.openxmlformats.org/drawingml/2006/main">
              <a:ext uri="{FF2B5EF4-FFF2-40B4-BE49-F238E27FC236}">
                <a16:creationId xmlns:a16="http://schemas.microsoft.com/office/drawing/2014/main" id="{CBC6FAE8-5DE8-4D6C-BB64-9613B5D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8AD"/>
                </a:solidFill>
              </a:defRPr>
            </a:pPr>
            <a:r>
              <a:rPr sz="1275" b="1">
                <a:solidFill>
                  <a:srgbClr val="A8B8AD"/>
                </a:solidFill>
              </a:rPr>
              <a:t>ALWAYS REMOTE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E6E85-680B-47A2-A25C-A74F9C3F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F21"/>
          </a:solidFill>
          <a:ln xmlns:a="http://schemas.openxmlformats.org/drawingml/2006/main" w="0">
            <a:noFill/>
          </a:ln>
        </p:spPr>
      </p:sp>
      <p:sp>
        <p:nvSpPr>
          <p:cNvPr id="12" name="old-cost">
            <a:extLst xmlns:a="http://schemas.openxmlformats.org/drawingml/2006/main">
              <a:ext uri="{FF2B5EF4-FFF2-40B4-BE49-F238E27FC236}">
                <a16:creationId xmlns:a16="http://schemas.microsoft.com/office/drawing/2014/main" id="{87C5FF8D-16C5-4804-A0B3-7CDE3E2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FULL TOKEN COST</a:t>
            </a:r>
          </a:p>
        </p:txBody>
      </p:sp>
      <p:sp>
        <p:nvSpPr>
          <p:cNvPr id="13" name="new-label">
            <a:extLst xmlns:a="http://schemas.openxmlformats.org/drawingml/2006/main">
              <a:ext uri="{FF2B5EF4-FFF2-40B4-BE49-F238E27FC236}">
                <a16:creationId xmlns:a16="http://schemas.microsoft.com/office/drawing/2014/main" id="{98749AC7-0D29-4F31-B341-CA7B28B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FFFC3"/>
                </a:solidFill>
              </a:defRPr>
            </a:pPr>
            <a:r>
              <a:rPr sz="1275" b="1">
                <a:solidFill>
                  <a:srgbClr val="9FFFC3"/>
                </a:solidFill>
              </a:rPr>
              <a:t>PROOFROUTE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F135-474F-4D39-8BAE-B6C1B68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FFC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2ED3F-09BF-440F-AD32-2BC1A0F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16" name="new-local">
            <a:extLst xmlns:a="http://schemas.openxmlformats.org/drawingml/2006/main">
              <a:ext uri="{FF2B5EF4-FFF2-40B4-BE49-F238E27FC236}">
                <a16:creationId xmlns:a16="http://schemas.microsoft.com/office/drawing/2014/main" id="{9344542C-64F5-4044-A1E4-CFA9E43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671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06"/>
                </a:solidFill>
              </a:defRPr>
            </a:pPr>
            <a:r>
              <a:rPr sz="1200" b="1">
                <a:solidFill>
                  <a:srgbClr val="050806"/>
                </a:solidFill>
              </a:rPr>
              <a:t>LOCAL</a:t>
            </a:r>
          </a:p>
        </p:txBody>
      </p:sp>
      <p:sp>
        <p:nvSpPr>
          <p:cNvPr id="17" name="new-remote">
            <a:extLst xmlns:a="http://schemas.openxmlformats.org/drawingml/2006/main">
              <a:ext uri="{FF2B5EF4-FFF2-40B4-BE49-F238E27FC236}">
                <a16:creationId xmlns:a16="http://schemas.microsoft.com/office/drawing/2014/main" id="{B291E193-60A6-4216-BFFC-0C1AD7C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0806"/>
                </a:solidFill>
              </a:defRPr>
            </a:pPr>
            <a:r>
              <a:rPr sz="1050" b="1">
                <a:solidFill>
                  <a:srgbClr val="050806"/>
                </a:solidFill>
              </a:rPr>
              <a:t>REMOTE ONLY WHEN NEEDED</a:t>
            </a:r>
          </a:p>
        </p:txBody>
      </p:sp>
      <p:sp>
        <p:nvSpPr>
          <p:cNvPr id="18" name="footer-Product ">
            <a:extLst xmlns:a="http://schemas.openxmlformats.org/drawingml/2006/main">
              <a:ext uri="{FF2B5EF4-FFF2-40B4-BE49-F238E27FC236}">
                <a16:creationId xmlns:a16="http://schemas.microsoft.com/office/drawing/2014/main" id="{A77B0675-6345-428F-A604-69A7176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Product thesis validated against Track 1: accuracy gate first, scored Fireworks tokens second.</a:t>
            </a:r>
          </a:p>
        </p:txBody>
      </p:sp>
    </p:spTree>
    <p:extLst>
      <p:ext uri="{BB962C8B-B14F-4D97-AF65-F5344CB8AC3E}">
        <p14:creationId xmlns:p14="http://schemas.microsoft.com/office/powerpoint/2010/main" val="2008252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848AB-ACBB-41B7-A216-FA99C6B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514C6CA1-BC4D-49A9-B503-F5AE32D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4EFF1921-6661-47B2-94A1-CCFEBFB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03 / 06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81E74AAB-29AC-42FB-ABEC-A8F4A195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Two evidence-backed paths share one answer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7C025-495E-43DD-BB93-A75506B7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runtime-lane">
            <a:extLst xmlns:a="http://schemas.openxmlformats.org/drawingml/2006/main">
              <a:ext uri="{FF2B5EF4-FFF2-40B4-BE49-F238E27FC236}">
                <a16:creationId xmlns:a16="http://schemas.microsoft.com/office/drawing/2014/main" id="{3187C1C2-2427-4E8B-A1F3-A4C23F1F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42B"/>
                </a:solidFill>
              </a:defRPr>
            </a:pPr>
            <a:r>
              <a:rPr sz="1275" b="1">
                <a:solidFill>
                  <a:srgbClr val="FF642B"/>
                </a:solidFill>
              </a:rPr>
              <a:t>SUBMITTED RUNTIME</a:t>
            </a:r>
          </a:p>
        </p:txBody>
      </p:sp>
      <p:sp>
        <p:nvSpPr>
          <p:cNvPr id="7" name="runtime-0">
            <a:extLst xmlns:a="http://schemas.openxmlformats.org/drawingml/2006/main">
              <a:ext uri="{FF2B5EF4-FFF2-40B4-BE49-F238E27FC236}">
                <a16:creationId xmlns:a16="http://schemas.microsoft.com/office/drawing/2014/main" id="{B1B75FDD-F699-41A8-A783-BDA43F8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8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6FEB2D1E-B17D-40D7-9203-8B02F86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ENVELOPE SPLIT</a:t>
            </a:r>
          </a:p>
        </p:txBody>
      </p:sp>
      <p:sp>
        <p:nvSpPr>
          <p:cNvPr id="9" name="runtime-sub-0">
            <a:extLst xmlns:a="http://schemas.openxmlformats.org/drawingml/2006/main">
              <a:ext uri="{FF2B5EF4-FFF2-40B4-BE49-F238E27FC236}">
                <a16:creationId xmlns:a16="http://schemas.microsoft.com/office/drawing/2014/main" id="{38F428E1-7337-4514-ABF0-89A589D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hold task_id • send prompt</a:t>
            </a:r>
          </a:p>
        </p:txBody>
      </p:sp>
      <p:sp>
        <p:nvSpPr>
          <p:cNvPr id="10" name="runtime-arrow-0">
            <a:extLst xmlns:a="http://schemas.openxmlformats.org/drawingml/2006/main">
              <a:ext uri="{FF2B5EF4-FFF2-40B4-BE49-F238E27FC236}">
                <a16:creationId xmlns:a16="http://schemas.microsoft.com/office/drawing/2014/main" id="{56391D68-4BF1-4B48-9E85-4B30ACB1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1" name="runtime-1">
            <a:extLst xmlns:a="http://schemas.openxmlformats.org/drawingml/2006/main">
              <a:ext uri="{FF2B5EF4-FFF2-40B4-BE49-F238E27FC236}">
                <a16:creationId xmlns:a16="http://schemas.microsoft.com/office/drawing/2014/main" id="{FD3DEB98-0BE7-49CA-8E3A-22BB9CF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2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29F6A298-B35F-4B0D-B417-694BA88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FFC3"/>
                </a:solidFill>
              </a:defRPr>
            </a:pPr>
            <a:r>
              <a:rPr sz="1350" b="1">
                <a:solidFill>
                  <a:srgbClr val="9FFFC3"/>
                </a:solidFill>
              </a:rPr>
              <a:t>PROOF ENGINE</a:t>
            </a:r>
          </a:p>
        </p:txBody>
      </p:sp>
      <p:sp>
        <p:nvSpPr>
          <p:cNvPr id="13" name="runtime-sub-1">
            <a:extLst xmlns:a="http://schemas.openxmlformats.org/drawingml/2006/main">
              <a:ext uri="{FF2B5EF4-FFF2-40B4-BE49-F238E27FC236}">
                <a16:creationId xmlns:a16="http://schemas.microsoft.com/office/drawing/2014/main" id="{2E4D2D99-BFE2-4B52-9040-C4B65D4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unique or refuse</a:t>
            </a:r>
          </a:p>
        </p:txBody>
      </p:sp>
      <p:sp>
        <p:nvSpPr>
          <p:cNvPr id="14" name="runtime-arrow-1">
            <a:extLst xmlns:a="http://schemas.openxmlformats.org/drawingml/2006/main">
              <a:ext uri="{FF2B5EF4-FFF2-40B4-BE49-F238E27FC236}">
                <a16:creationId xmlns:a16="http://schemas.microsoft.com/office/drawing/2014/main" id="{C59DFAC1-8F52-4A62-A087-5C5B69E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5" name="runtime-2">
            <a:extLst xmlns:a="http://schemas.openxmlformats.org/drawingml/2006/main">
              <a:ext uri="{FF2B5EF4-FFF2-40B4-BE49-F238E27FC236}">
                <a16:creationId xmlns:a16="http://schemas.microsoft.com/office/drawing/2014/main" id="{14A17FCB-8BE3-4755-9247-A84C371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6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B9CFAE0F-D295-40C2-B03E-C43E4BB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FIREWORKS</a:t>
            </a:r>
          </a:p>
        </p:txBody>
      </p:sp>
      <p:sp>
        <p:nvSpPr>
          <p:cNvPr id="17" name="runtime-sub-2">
            <a:extLst xmlns:a="http://schemas.openxmlformats.org/drawingml/2006/main">
              <a:ext uri="{FF2B5EF4-FFF2-40B4-BE49-F238E27FC236}">
                <a16:creationId xmlns:a16="http://schemas.microsoft.com/office/drawing/2014/main" id="{C88B22F9-B56B-41A7-AC7B-E66BBFA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answer only</a:t>
            </a:r>
          </a:p>
        </p:txBody>
      </p:sp>
      <p:sp>
        <p:nvSpPr>
          <p:cNvPr id="18" name="runtime-arrow-2">
            <a:extLst xmlns:a="http://schemas.openxmlformats.org/drawingml/2006/main">
              <a:ext uri="{FF2B5EF4-FFF2-40B4-BE49-F238E27FC236}">
                <a16:creationId xmlns:a16="http://schemas.microsoft.com/office/drawing/2014/main" id="{63D7BA76-08D7-4654-91DB-B6B575E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42B"/>
                </a:solidFill>
              </a:defRPr>
            </a:pPr>
            <a:r>
              <a:rPr sz="2250" b="1">
                <a:solidFill>
                  <a:srgbClr val="FF642B"/>
                </a:solidFill>
              </a:rPr>
              <a:t>→</a:t>
            </a:r>
          </a:p>
        </p:txBody>
      </p:sp>
      <p:sp>
        <p:nvSpPr>
          <p:cNvPr id="19" name="runtime-3">
            <a:extLst xmlns:a="http://schemas.openxmlformats.org/drawingml/2006/main">
              <a:ext uri="{FF2B5EF4-FFF2-40B4-BE49-F238E27FC236}">
                <a16:creationId xmlns:a16="http://schemas.microsoft.com/office/drawing/2014/main" id="{675D7FD5-3F07-4119-BF3F-7D34428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66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runtime-title-3">
            <a:extLst xmlns:a="http://schemas.openxmlformats.org/drawingml/2006/main">
              <a:ext uri="{FF2B5EF4-FFF2-40B4-BE49-F238E27FC236}">
                <a16:creationId xmlns:a16="http://schemas.microsoft.com/office/drawing/2014/main" id="{F09C7BC0-8AB7-437D-A73A-D4D08DAC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JSON REBUILD</a:t>
            </a:r>
          </a:p>
        </p:txBody>
      </p:sp>
      <p:sp>
        <p:nvSpPr>
          <p:cNvPr id="21" name="runtime-sub-3">
            <a:extLst xmlns:a="http://schemas.openxmlformats.org/drawingml/2006/main">
              <a:ext uri="{FF2B5EF4-FFF2-40B4-BE49-F238E27FC236}">
                <a16:creationId xmlns:a16="http://schemas.microsoft.com/office/drawing/2014/main" id="{9FAC640B-9F7C-4BDC-B56C-2FE046D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8B8AD"/>
                </a:solidFill>
              </a:defRPr>
            </a:pPr>
            <a:r>
              <a:rPr sz="975" b="0">
                <a:solidFill>
                  <a:srgbClr val="A8B8AD"/>
                </a:solidFill>
              </a:rPr>
              <a:t>{task_id, answer}</a:t>
            </a:r>
          </a:p>
        </p:txBody>
      </p:sp>
      <p:sp>
        <p:nvSpPr>
          <p:cNvPr id="22" name="challenger-lane">
            <a:extLst xmlns:a="http://schemas.openxmlformats.org/drawingml/2006/main">
              <a:ext uri="{FF2B5EF4-FFF2-40B4-BE49-F238E27FC236}">
                <a16:creationId xmlns:a16="http://schemas.microsoft.com/office/drawing/2014/main" id="{49E1962D-3F9C-4C22-B315-F6F817A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FFFC3"/>
                </a:solidFill>
              </a:defRPr>
            </a:pPr>
            <a:r>
              <a:rPr sz="1275" b="1">
                <a:solidFill>
                  <a:srgbClr val="9FFFC3"/>
                </a:solidFill>
              </a:rPr>
              <a:t>CALIBRATED LOCAL CHALLENGER</a:t>
            </a:r>
          </a:p>
        </p:txBody>
      </p:sp>
      <p:sp>
        <p:nvSpPr>
          <p:cNvPr id="23" name="challenger-0">
            <a:extLst xmlns:a="http://schemas.openxmlformats.org/drawingml/2006/main">
              <a:ext uri="{FF2B5EF4-FFF2-40B4-BE49-F238E27FC236}">
                <a16:creationId xmlns:a16="http://schemas.microsoft.com/office/drawing/2014/main" id="{A20DA0C2-3DD1-4679-A4B5-86AED79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4" name="challenger-title-0">
            <a:extLst xmlns:a="http://schemas.openxmlformats.org/drawingml/2006/main">
              <a:ext uri="{FF2B5EF4-FFF2-40B4-BE49-F238E27FC236}">
                <a16:creationId xmlns:a16="http://schemas.microsoft.com/office/drawing/2014/main" id="{D832A1FB-BEE5-47C6-9899-E3F4DEFA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FUNCTIONGEMMA 270M</a:t>
            </a:r>
          </a:p>
        </p:txBody>
      </p:sp>
      <p:sp>
        <p:nvSpPr>
          <p:cNvPr id="25" name="challenger-sub-0">
            <a:extLst xmlns:a="http://schemas.openxmlformats.org/drawingml/2006/main">
              <a:ext uri="{FF2B5EF4-FFF2-40B4-BE49-F238E27FC236}">
                <a16:creationId xmlns:a16="http://schemas.microsoft.com/office/drawing/2014/main" id="{F2A2CBD1-161A-4D22-91CF-89A1147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intent + 5 signals</a:t>
            </a:r>
          </a:p>
        </p:txBody>
      </p:sp>
      <p:sp>
        <p:nvSpPr>
          <p:cNvPr id="26" name="challenger-arrow-0">
            <a:extLst xmlns:a="http://schemas.openxmlformats.org/drawingml/2006/main">
              <a:ext uri="{FF2B5EF4-FFF2-40B4-BE49-F238E27FC236}">
                <a16:creationId xmlns:a16="http://schemas.microsoft.com/office/drawing/2014/main" id="{5F4165D8-5122-4965-8D76-9A9035A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27" name="challenger-1">
            <a:extLst xmlns:a="http://schemas.openxmlformats.org/drawingml/2006/main">
              <a:ext uri="{FF2B5EF4-FFF2-40B4-BE49-F238E27FC236}">
                <a16:creationId xmlns:a16="http://schemas.microsoft.com/office/drawing/2014/main" id="{4BAFD46F-BB60-4966-BAE6-921780E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8" name="challenger-title-1">
            <a:extLst xmlns:a="http://schemas.openxmlformats.org/drawingml/2006/main">
              <a:ext uri="{FF2B5EF4-FFF2-40B4-BE49-F238E27FC236}">
                <a16:creationId xmlns:a16="http://schemas.microsoft.com/office/drawing/2014/main" id="{9EF4BEF0-0575-4824-AC37-317BCCF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MATRIX REGRESSION</a:t>
            </a:r>
          </a:p>
        </p:txBody>
      </p:sp>
      <p:sp>
        <p:nvSpPr>
          <p:cNvPr id="29" name="challenger-sub-1">
            <a:extLst xmlns:a="http://schemas.openxmlformats.org/drawingml/2006/main">
              <a:ext uri="{FF2B5EF4-FFF2-40B4-BE49-F238E27FC236}">
                <a16:creationId xmlns:a16="http://schemas.microsoft.com/office/drawing/2014/main" id="{BB5255BC-0186-4A9B-8309-5269D82D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predict local success</a:t>
            </a:r>
          </a:p>
        </p:txBody>
      </p:sp>
      <p:sp>
        <p:nvSpPr>
          <p:cNvPr id="30" name="challenger-arrow-1">
            <a:extLst xmlns:a="http://schemas.openxmlformats.org/drawingml/2006/main">
              <a:ext uri="{FF2B5EF4-FFF2-40B4-BE49-F238E27FC236}">
                <a16:creationId xmlns:a16="http://schemas.microsoft.com/office/drawing/2014/main" id="{FFC71C72-1EF1-45E1-95DC-29DA76CB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31" name="challenger-2">
            <a:extLst xmlns:a="http://schemas.openxmlformats.org/drawingml/2006/main">
              <a:ext uri="{FF2B5EF4-FFF2-40B4-BE49-F238E27FC236}">
                <a16:creationId xmlns:a16="http://schemas.microsoft.com/office/drawing/2014/main" id="{896FEE88-EC7C-4F0A-95E0-8812270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32" name="challenger-title-2">
            <a:extLst xmlns:a="http://schemas.openxmlformats.org/drawingml/2006/main">
              <a:ext uri="{FF2B5EF4-FFF2-40B4-BE49-F238E27FC236}">
                <a16:creationId xmlns:a16="http://schemas.microsoft.com/office/drawing/2014/main" id="{266160E4-E06D-41CB-BDE8-69FF1FE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GEMMA E2B</a:t>
            </a:r>
          </a:p>
        </p:txBody>
      </p:sp>
      <p:sp>
        <p:nvSpPr>
          <p:cNvPr id="33" name="challenger-sub-2">
            <a:extLst xmlns:a="http://schemas.openxmlformats.org/drawingml/2006/main">
              <a:ext uri="{FF2B5EF4-FFF2-40B4-BE49-F238E27FC236}">
                <a16:creationId xmlns:a16="http://schemas.microsoft.com/office/drawing/2014/main" id="{5D9F1632-DD18-4BAD-AD04-1DDBF36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selective zero-token answer</a:t>
            </a:r>
          </a:p>
        </p:txBody>
      </p:sp>
      <p:sp>
        <p:nvSpPr>
          <p:cNvPr id="34" name="challenger-arrow-2">
            <a:extLst xmlns:a="http://schemas.openxmlformats.org/drawingml/2006/main">
              <a:ext uri="{FF2B5EF4-FFF2-40B4-BE49-F238E27FC236}">
                <a16:creationId xmlns:a16="http://schemas.microsoft.com/office/drawing/2014/main" id="{E474C51A-C039-431F-8D8B-111E3E5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4817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FFC3"/>
                </a:solidFill>
              </a:defRPr>
            </a:pPr>
            <a:r>
              <a:rPr sz="2250" b="1">
                <a:solidFill>
                  <a:srgbClr val="9FFFC3"/>
                </a:solidFill>
              </a:rPr>
              <a:t>→</a:t>
            </a:r>
          </a:p>
        </p:txBody>
      </p:sp>
      <p:sp>
        <p:nvSpPr>
          <p:cNvPr id="35" name="challenger-3">
            <a:extLst xmlns:a="http://schemas.openxmlformats.org/drawingml/2006/main">
              <a:ext uri="{FF2B5EF4-FFF2-40B4-BE49-F238E27FC236}">
                <a16:creationId xmlns:a16="http://schemas.microsoft.com/office/drawing/2014/main" id="{76CF232C-DF18-4129-96D2-991C00A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36" name="challenger-title-3">
            <a:extLst xmlns:a="http://schemas.openxmlformats.org/drawingml/2006/main">
              <a:ext uri="{FF2B5EF4-FFF2-40B4-BE49-F238E27FC236}">
                <a16:creationId xmlns:a16="http://schemas.microsoft.com/office/drawing/2014/main" id="{ED39E628-51FB-428E-BFEE-8FC3014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767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1DF"/>
                </a:solidFill>
              </a:defRPr>
            </a:pPr>
            <a:r>
              <a:rPr sz="1125" b="1">
                <a:solidFill>
                  <a:srgbClr val="F4F1DF"/>
                </a:solidFill>
              </a:rPr>
              <a:t>FIREWORKS</a:t>
            </a:r>
          </a:p>
        </p:txBody>
      </p:sp>
      <p:sp>
        <p:nvSpPr>
          <p:cNvPr id="37" name="challenger-sub-3">
            <a:extLst xmlns:a="http://schemas.openxmlformats.org/drawingml/2006/main">
              <a:ext uri="{FF2B5EF4-FFF2-40B4-BE49-F238E27FC236}">
                <a16:creationId xmlns:a16="http://schemas.microsoft.com/office/drawing/2014/main" id="{DB4892E7-EC2D-4D9B-A5C3-A8CEE036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8AD"/>
                </a:solidFill>
              </a:defRPr>
            </a:pPr>
            <a:r>
              <a:rPr sz="900" b="0">
                <a:solidFill>
                  <a:srgbClr val="A8B8AD"/>
                </a:solidFill>
              </a:rPr>
              <a:t>safe fallback</a:t>
            </a:r>
          </a:p>
        </p:txBody>
      </p:sp>
      <p:sp>
        <p:nvSpPr>
          <p:cNvPr id="38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0C442C6-7F87-4327-ADEE-27B0328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42B"/>
                </a:solidFill>
              </a:defRPr>
            </a:pPr>
            <a:r>
              <a:rPr sz="1275" b="1">
                <a:solidFill>
                  <a:srgbClr val="FF642B"/>
                </a:solidFill>
              </a:rPr>
              <a:t>The engine—not the model—owns JSON structure. Raw-prompt ablation cut Fireworks input tokens by 51.9% with byte-identical Kimi answers.</a:t>
            </a:r>
          </a:p>
        </p:txBody>
      </p:sp>
      <p:sp>
        <p:nvSpPr>
          <p:cNvPr id="39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B5D9A3B1-3047-4D70-93DB-EA78EC1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docs/ARCHITECTURE.md; reports/public/raw-prompt-answer-contract-ablation.md</a:t>
            </a:r>
          </a:p>
        </p:txBody>
      </p:sp>
    </p:spTree>
    <p:extLst>
      <p:ext uri="{BB962C8B-B14F-4D97-AF65-F5344CB8AC3E}">
        <p14:creationId xmlns:p14="http://schemas.microsoft.com/office/powerpoint/2010/main" val="97218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1B0EB-ED5E-4972-98D8-4C3B1C4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65BC19D7-0DD2-4064-A48C-5DD91E0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A174F51-5807-43D8-ACF4-0CDBF01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04 / 06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899F83A5-CFB2-4169-ABEE-B61A8FD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Deterministic answers require proof, not confidence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3DEE7-16F4-4EF7-A783-0F856D9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proof-flow">
            <a:extLst xmlns:a="http://schemas.openxmlformats.org/drawingml/2006/main">
              <a:ext uri="{FF2B5EF4-FFF2-40B4-BE49-F238E27FC236}">
                <a16:creationId xmlns:a16="http://schemas.microsoft.com/office/drawing/2014/main" id="{81C3B0EA-B624-46BA-8927-D5C2B10F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D8DAA332-FEB9-4D8C-B148-A73E51F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1FD04BA-0915-48F2-8529-F5FB6F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Parse a registered contract</a:t>
            </a:r>
          </a:p>
        </p:txBody>
      </p:sp>
      <p:sp>
        <p:nvSpPr>
          <p:cNvPr id="9" name="step-sub-0">
            <a:extLst xmlns:a="http://schemas.openxmlformats.org/drawingml/2006/main">
              <a:ext uri="{FF2B5EF4-FFF2-40B4-BE49-F238E27FC236}">
                <a16:creationId xmlns:a16="http://schemas.microsoft.com/office/drawing/2014/main" id="{DAB2A724-508C-407D-855D-9294829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bounded math, logic, extraction or code</a:t>
            </a:r>
          </a:p>
        </p:txBody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66FC03BE-36A7-43A5-B9E4-351A6F7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9CF7371-F778-4603-A960-8A68DC5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Recompute the candidate</a:t>
            </a:r>
          </a:p>
        </p:txBody>
      </p:sp>
      <p:sp>
        <p:nvSpPr>
          <p:cNvPr id="12" name="step-sub-1">
            <a:extLst xmlns:a="http://schemas.openxmlformats.org/drawingml/2006/main">
              <a:ext uri="{FF2B5EF4-FFF2-40B4-BE49-F238E27FC236}">
                <a16:creationId xmlns:a16="http://schemas.microsoft.com/office/drawing/2014/main" id="{126DFC07-2698-4376-9287-841F533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safe AST, graph closure or constrained execution</a:t>
            </a:r>
          </a:p>
        </p:txBody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E7473FE1-86BD-486A-8CB9-1D8A80F2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03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AF71C75-9926-475E-83AF-676747F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Require one unique result</a:t>
            </a:r>
          </a:p>
        </p:txBody>
      </p:sp>
      <p:sp>
        <p:nvSpPr>
          <p:cNvPr id="15" name="step-sub-2">
            <a:extLst xmlns:a="http://schemas.openxmlformats.org/drawingml/2006/main">
              <a:ext uri="{FF2B5EF4-FFF2-40B4-BE49-F238E27FC236}">
                <a16:creationId xmlns:a16="http://schemas.microsoft.com/office/drawing/2014/main" id="{E3B7EC00-1817-40C4-89B2-8EDD244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ambiguity, mismatch or unsupported input refuses</a:t>
            </a:r>
          </a:p>
        </p:txBody>
      </p:sp>
      <p:sp>
        <p:nvSpPr>
          <p:cNvPr id="16" name="step-num-3">
            <a:extLst xmlns:a="http://schemas.openxmlformats.org/drawingml/2006/main">
              <a:ext uri="{FF2B5EF4-FFF2-40B4-BE49-F238E27FC236}">
                <a16:creationId xmlns:a16="http://schemas.microsoft.com/office/drawing/2014/main" id="{C5E46227-784F-44B7-A87C-7AE77F1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42B"/>
                </a:solidFill>
              </a:defRPr>
            </a:pPr>
            <a:r>
              <a:rPr sz="1650" b="1">
                <a:solidFill>
                  <a:srgbClr val="FF642B"/>
                </a:solidFill>
              </a:rPr>
              <a:t>04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F2F58C3-4A12-46E9-804E-0C5C064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DF"/>
                </a:solidFill>
              </a:defRPr>
            </a:pPr>
            <a:r>
              <a:rPr sz="1425" b="1">
                <a:solidFill>
                  <a:srgbClr val="F4F1DF"/>
                </a:solidFill>
              </a:rPr>
              <a:t>Apply the answer contract</a:t>
            </a:r>
          </a:p>
        </p:txBody>
      </p:sp>
      <p:sp>
        <p:nvSpPr>
          <p:cNvPr id="18" name="step-sub-3">
            <a:extLst xmlns:a="http://schemas.openxmlformats.org/drawingml/2006/main">
              <a:ext uri="{FF2B5EF4-FFF2-40B4-BE49-F238E27FC236}">
                <a16:creationId xmlns:a16="http://schemas.microsoft.com/office/drawing/2014/main" id="{51525ADF-4FC9-4F72-85CA-6F90D6F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release zero Fireworks tokens or fall through</a:t>
            </a:r>
          </a:p>
        </p:txBody>
      </p:sp>
      <p:sp>
        <p:nvSpPr>
          <p:cNvPr id="19" name="proof-hit-box">
            <a:extLst xmlns:a="http://schemas.openxmlformats.org/drawingml/2006/main">
              <a:ext uri="{FF2B5EF4-FFF2-40B4-BE49-F238E27FC236}">
                <a16:creationId xmlns:a16="http://schemas.microsoft.com/office/drawing/2014/main" id="{C2D95024-846C-49FA-9D87-C711342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proof-hit-value">
            <a:extLst xmlns:a="http://schemas.openxmlformats.org/drawingml/2006/main">
              <a:ext uri="{FF2B5EF4-FFF2-40B4-BE49-F238E27FC236}">
                <a16:creationId xmlns:a16="http://schemas.microsoft.com/office/drawing/2014/main" id="{C587BCD9-6E27-420E-9DBF-61CCA93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FFFC3"/>
                </a:solidFill>
              </a:defRPr>
            </a:pPr>
            <a:r>
              <a:rPr sz="2850" b="1">
                <a:solidFill>
                  <a:srgbClr val="9FFFC3"/>
                </a:solidFill>
              </a:rPr>
              <a:t>2 / 2</a:t>
            </a:r>
          </a:p>
        </p:txBody>
      </p:sp>
      <p:sp>
        <p:nvSpPr>
          <p:cNvPr id="21" name="proof-hit-label">
            <a:extLst xmlns:a="http://schemas.openxmlformats.org/drawingml/2006/main">
              <a:ext uri="{FF2B5EF4-FFF2-40B4-BE49-F238E27FC236}">
                <a16:creationId xmlns:a16="http://schemas.microsoft.com/office/drawing/2014/main" id="{55EECDD4-9B0F-4716-907A-107A925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known correct ordering candidates recovered</a:t>
            </a:r>
          </a:p>
        </p:txBody>
      </p:sp>
      <p:sp>
        <p:nvSpPr>
          <p:cNvPr id="22" name="proof-reject-box">
            <a:extLst xmlns:a="http://schemas.openxmlformats.org/drawingml/2006/main">
              <a:ext uri="{FF2B5EF4-FFF2-40B4-BE49-F238E27FC236}">
                <a16:creationId xmlns:a16="http://schemas.microsoft.com/office/drawing/2014/main" id="{0667BE97-D016-4306-BA34-14A63B1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5280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3" name="proof-reject-value">
            <a:extLst xmlns:a="http://schemas.openxmlformats.org/drawingml/2006/main">
              <a:ext uri="{FF2B5EF4-FFF2-40B4-BE49-F238E27FC236}">
                <a16:creationId xmlns:a16="http://schemas.microsoft.com/office/drawing/2014/main" id="{96AC36E4-BF15-40C3-8262-B81BBD5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42B"/>
                </a:solidFill>
              </a:defRPr>
            </a:pPr>
            <a:r>
              <a:rPr sz="2850" b="1">
                <a:solidFill>
                  <a:srgbClr val="FF642B"/>
                </a:solidFill>
              </a:rPr>
              <a:t>5 / 5</a:t>
            </a:r>
          </a:p>
        </p:txBody>
      </p:sp>
      <p:sp>
        <p:nvSpPr>
          <p:cNvPr id="24" name="proof-reject-label">
            <a:extLst xmlns:a="http://schemas.openxmlformats.org/drawingml/2006/main">
              <a:ext uri="{FF2B5EF4-FFF2-40B4-BE49-F238E27FC236}">
                <a16:creationId xmlns:a16="http://schemas.microsoft.com/office/drawing/2014/main" id="{A42A1F63-F87F-4348-A4F0-8A67F58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incorrect deterministic candidates refused</a:t>
            </a:r>
          </a:p>
        </p:txBody>
      </p:sp>
      <p:sp>
        <p:nvSpPr>
          <p:cNvPr id="25" name="proof-gate">
            <a:extLst xmlns:a="http://schemas.openxmlformats.org/drawingml/2006/main">
              <a:ext uri="{FF2B5EF4-FFF2-40B4-BE49-F238E27FC236}">
                <a16:creationId xmlns:a16="http://schemas.microsoft.com/office/drawing/2014/main" id="{2242F798-C85C-4BCB-9E82-022798F7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1DF"/>
                </a:solidFill>
              </a:defRPr>
            </a:pPr>
            <a:r>
              <a:rPr sz="1275" b="1">
                <a:solidFill>
                  <a:srgbClr val="F4F1DF"/>
                </a:solidFill>
              </a:rPr>
              <a:t>Independent gate: 180 releases • 100% precision • 0 false positives</a:t>
            </a:r>
          </a:p>
        </p:txBody>
      </p:sp>
      <p:sp>
        <p:nvSpPr>
          <p:cNvPr id="26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36525F85-A416-4090-BC91-1EE18EC3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reports/generated/math-logic-proof-coverage.json; 260-case independent proof gate.</a:t>
            </a:r>
          </a:p>
        </p:txBody>
      </p:sp>
    </p:spTree>
    <p:extLst>
      <p:ext uri="{BB962C8B-B14F-4D97-AF65-F5344CB8AC3E}">
        <p14:creationId xmlns:p14="http://schemas.microsoft.com/office/powerpoint/2010/main" val="895056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2985E-E249-41D9-9495-C1DBA4B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41777926-233E-40C8-A9A9-DA4BBD6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2C85343-8486-4F02-86C5-FDEC004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05 / 06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DEFDDD8C-07B4-4C9D-8820-CFAC76BF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AMD training converts task signals into selective local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B1C9-A900-4B66-A8DB-1FB74B31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training-copy">
            <a:extLst xmlns:a="http://schemas.openxmlformats.org/drawingml/2006/main">
              <a:ext uri="{FF2B5EF4-FFF2-40B4-BE49-F238E27FC236}">
                <a16:creationId xmlns:a16="http://schemas.microsoft.com/office/drawing/2014/main" id="{2480FF6D-4E48-4D4F-8683-F2C70E6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8AD"/>
                </a:solidFill>
              </a:defRPr>
            </a:pPr>
            <a:r>
              <a:rPr sz="1500" b="0">
                <a:solidFill>
                  <a:srgbClr val="A8B8AD"/>
                </a:solidFill>
              </a:rPr>
              <a:t>FunctionGemma learns the task. Gemma E2B attempts the answer. Judges label the outcome. Regression learns the frontier.</a:t>
            </a:r>
          </a:p>
        </p:txBody>
      </p:sp>
      <p:sp>
        <p:nvSpPr>
          <p:cNvPr id="7" name="train-0">
            <a:extLst xmlns:a="http://schemas.openxmlformats.org/drawingml/2006/main">
              <a:ext uri="{FF2B5EF4-FFF2-40B4-BE49-F238E27FC236}">
                <a16:creationId xmlns:a16="http://schemas.microsoft.com/office/drawing/2014/main" id="{DDF02687-751B-4DA7-B93F-B53A447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8" name="train-title-0">
            <a:extLst xmlns:a="http://schemas.openxmlformats.org/drawingml/2006/main">
              <a:ext uri="{FF2B5EF4-FFF2-40B4-BE49-F238E27FC236}">
                <a16:creationId xmlns:a16="http://schemas.microsoft.com/office/drawing/2014/main" id="{95843566-8E65-4750-9E57-710F30CB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DATASET</a:t>
            </a:r>
          </a:p>
        </p:txBody>
      </p:sp>
      <p:sp>
        <p:nvSpPr>
          <p:cNvPr id="9" name="train-main-0">
            <a:extLst xmlns:a="http://schemas.openxmlformats.org/drawingml/2006/main">
              <a:ext uri="{FF2B5EF4-FFF2-40B4-BE49-F238E27FC236}">
                <a16:creationId xmlns:a16="http://schemas.microsoft.com/office/drawing/2014/main" id="{6C6477CA-AE8B-4F5E-880B-4A0E99D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4,000 questions</a:t>
            </a:r>
          </a:p>
        </p:txBody>
      </p:sp>
      <p:sp>
        <p:nvSpPr>
          <p:cNvPr id="10" name="train-sub-0">
            <a:extLst xmlns:a="http://schemas.openxmlformats.org/drawingml/2006/main">
              <a:ext uri="{FF2B5EF4-FFF2-40B4-BE49-F238E27FC236}">
                <a16:creationId xmlns:a16="http://schemas.microsoft.com/office/drawing/2014/main" id="{D85EF600-99E2-4734-A587-DAEF9DE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8 balanced categories</a:t>
            </a:r>
          </a:p>
        </p:txBody>
      </p:sp>
      <p:sp>
        <p:nvSpPr>
          <p:cNvPr id="11" name="train-1">
            <a:extLst xmlns:a="http://schemas.openxmlformats.org/drawingml/2006/main">
              <a:ext uri="{FF2B5EF4-FFF2-40B4-BE49-F238E27FC236}">
                <a16:creationId xmlns:a16="http://schemas.microsoft.com/office/drawing/2014/main" id="{BD55387B-ED10-43B2-87BB-A8664D0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2" name="train-title-1">
            <a:extLst xmlns:a="http://schemas.openxmlformats.org/drawingml/2006/main">
              <a:ext uri="{FF2B5EF4-FFF2-40B4-BE49-F238E27FC236}">
                <a16:creationId xmlns:a16="http://schemas.microsoft.com/office/drawing/2014/main" id="{D27C5879-D582-4840-8E49-5DB0CA5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FFFC3"/>
                </a:solidFill>
              </a:defRPr>
            </a:pPr>
            <a:r>
              <a:rPr sz="1200" b="1">
                <a:solidFill>
                  <a:srgbClr val="9FFFC3"/>
                </a:solidFill>
              </a:rPr>
              <a:t>FUNCTIONGEMMA</a:t>
            </a:r>
          </a:p>
        </p:txBody>
      </p:sp>
      <p:sp>
        <p:nvSpPr>
          <p:cNvPr id="13" name="train-main-1">
            <a:extLst xmlns:a="http://schemas.openxmlformats.org/drawingml/2006/main">
              <a:ext uri="{FF2B5EF4-FFF2-40B4-BE49-F238E27FC236}">
                <a16:creationId xmlns:a16="http://schemas.microsoft.com/office/drawing/2014/main" id="{A82A9FD0-9D0F-4E22-A44D-C5E9D94B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270M parameters</a:t>
            </a:r>
          </a:p>
        </p:txBody>
      </p:sp>
      <p:sp>
        <p:nvSpPr>
          <p:cNvPr id="14" name="train-sub-1">
            <a:extLst xmlns:a="http://schemas.openxmlformats.org/drawingml/2006/main">
              <a:ext uri="{FF2B5EF4-FFF2-40B4-BE49-F238E27FC236}">
                <a16:creationId xmlns:a16="http://schemas.microsoft.com/office/drawing/2014/main" id="{0624580F-DD75-4584-8519-6B3CC93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intent + 5 scores</a:t>
            </a:r>
          </a:p>
        </p:txBody>
      </p:sp>
      <p:sp>
        <p:nvSpPr>
          <p:cNvPr id="15" name="train-2">
            <a:extLst xmlns:a="http://schemas.openxmlformats.org/drawingml/2006/main">
              <a:ext uri="{FF2B5EF4-FFF2-40B4-BE49-F238E27FC236}">
                <a16:creationId xmlns:a16="http://schemas.microsoft.com/office/drawing/2014/main" id="{4EB97E8A-68CF-4703-AF40-4E47F85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9FFFC3"/>
            </a:solidFill>
            <a:prstDash val="solid"/>
          </a:ln>
        </p:spPr>
      </p:sp>
      <p:sp>
        <p:nvSpPr>
          <p:cNvPr id="16" name="train-title-2">
            <a:extLst xmlns:a="http://schemas.openxmlformats.org/drawingml/2006/main">
              <a:ext uri="{FF2B5EF4-FFF2-40B4-BE49-F238E27FC236}">
                <a16:creationId xmlns:a16="http://schemas.microsoft.com/office/drawing/2014/main" id="{96FA6462-6AE6-4CBB-8D66-A44EA44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FFFC3"/>
                </a:solidFill>
              </a:defRPr>
            </a:pPr>
            <a:r>
              <a:rPr sz="1200" b="1">
                <a:solidFill>
                  <a:srgbClr val="9FFFC3"/>
                </a:solidFill>
              </a:rPr>
              <a:t>GEMMA 4 E2B</a:t>
            </a:r>
          </a:p>
        </p:txBody>
      </p:sp>
      <p:sp>
        <p:nvSpPr>
          <p:cNvPr id="17" name="train-main-2">
            <a:extLst xmlns:a="http://schemas.openxmlformats.org/drawingml/2006/main">
              <a:ext uri="{FF2B5EF4-FFF2-40B4-BE49-F238E27FC236}">
                <a16:creationId xmlns:a16="http://schemas.microsoft.com/office/drawing/2014/main" id="{D4F80221-7571-4459-BFBB-6458F61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96-token ceiling</a:t>
            </a:r>
          </a:p>
        </p:txBody>
      </p:sp>
      <p:sp>
        <p:nvSpPr>
          <p:cNvPr id="18" name="train-sub-2">
            <a:extLst xmlns:a="http://schemas.openxmlformats.org/drawingml/2006/main">
              <a:ext uri="{FF2B5EF4-FFF2-40B4-BE49-F238E27FC236}">
                <a16:creationId xmlns:a16="http://schemas.microsoft.com/office/drawing/2014/main" id="{4514790D-BE50-4F08-88D4-82ABB67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post-contract answer</a:t>
            </a:r>
          </a:p>
        </p:txBody>
      </p:sp>
      <p:sp>
        <p:nvSpPr>
          <p:cNvPr id="19" name="train-3">
            <a:extLst xmlns:a="http://schemas.openxmlformats.org/drawingml/2006/main">
              <a:ext uri="{FF2B5EF4-FFF2-40B4-BE49-F238E27FC236}">
                <a16:creationId xmlns:a16="http://schemas.microsoft.com/office/drawing/2014/main" id="{4C67B1CD-2228-462E-8EC3-1829410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0" name="train-title-3">
            <a:extLst xmlns:a="http://schemas.openxmlformats.org/drawingml/2006/main">
              <a:ext uri="{FF2B5EF4-FFF2-40B4-BE49-F238E27FC236}">
                <a16:creationId xmlns:a16="http://schemas.microsoft.com/office/drawing/2014/main" id="{089AA66F-59D3-4ADB-891E-EDA05E0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ADJUDICATION</a:t>
            </a:r>
          </a:p>
        </p:txBody>
      </p:sp>
      <p:sp>
        <p:nvSpPr>
          <p:cNvPr id="21" name="train-main-3">
            <a:extLst xmlns:a="http://schemas.openxmlformats.org/drawingml/2006/main">
              <a:ext uri="{FF2B5EF4-FFF2-40B4-BE49-F238E27FC236}">
                <a16:creationId xmlns:a16="http://schemas.microsoft.com/office/drawing/2014/main" id="{82D107AD-AB30-4040-9077-B471FC6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Fireworks + Gemini</a:t>
            </a:r>
          </a:p>
        </p:txBody>
      </p:sp>
      <p:sp>
        <p:nvSpPr>
          <p:cNvPr id="22" name="train-sub-3">
            <a:extLst xmlns:a="http://schemas.openxmlformats.org/drawingml/2006/main">
              <a:ext uri="{FF2B5EF4-FFF2-40B4-BE49-F238E27FC236}">
                <a16:creationId xmlns:a16="http://schemas.microsoft.com/office/drawing/2014/main" id="{E357BCC8-7876-4FB9-8822-D48F761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correct / incorrect</a:t>
            </a:r>
          </a:p>
        </p:txBody>
      </p:sp>
      <p:sp>
        <p:nvSpPr>
          <p:cNvPr id="23" name="train-4">
            <a:extLst xmlns:a="http://schemas.openxmlformats.org/drawingml/2006/main">
              <a:ext uri="{FF2B5EF4-FFF2-40B4-BE49-F238E27FC236}">
                <a16:creationId xmlns:a16="http://schemas.microsoft.com/office/drawing/2014/main" id="{A55CDC73-F413-49C2-805D-0A13607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20383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24" name="train-title-4">
            <a:extLst xmlns:a="http://schemas.openxmlformats.org/drawingml/2006/main">
              <a:ext uri="{FF2B5EF4-FFF2-40B4-BE49-F238E27FC236}">
                <a16:creationId xmlns:a16="http://schemas.microsoft.com/office/drawing/2014/main" id="{78927A03-3914-4BD7-A125-3BF8E70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REGRESSION</a:t>
            </a:r>
          </a:p>
        </p:txBody>
      </p:sp>
      <p:sp>
        <p:nvSpPr>
          <p:cNvPr id="25" name="train-main-4">
            <a:extLst xmlns:a="http://schemas.openxmlformats.org/drawingml/2006/main">
              <a:ext uri="{FF2B5EF4-FFF2-40B4-BE49-F238E27FC236}">
                <a16:creationId xmlns:a16="http://schemas.microsoft.com/office/drawing/2014/main" id="{F7870C39-8E3D-425A-9667-A9CEF4CF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86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1DF"/>
                </a:solidFill>
              </a:defRPr>
            </a:pPr>
            <a:r>
              <a:rPr sz="1500" b="1">
                <a:solidFill>
                  <a:srgbClr val="F4F1DF"/>
                </a:solidFill>
              </a:rPr>
              <a:t>per intent</a:t>
            </a:r>
          </a:p>
        </p:txBody>
      </p:sp>
      <p:sp>
        <p:nvSpPr>
          <p:cNvPr id="26" name="train-sub-4">
            <a:extLst xmlns:a="http://schemas.openxmlformats.org/drawingml/2006/main">
              <a:ext uri="{FF2B5EF4-FFF2-40B4-BE49-F238E27FC236}">
                <a16:creationId xmlns:a16="http://schemas.microsoft.com/office/drawing/2014/main" id="{75FEC028-E252-4726-97EF-858148D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AD"/>
                </a:solidFill>
              </a:defRPr>
            </a:pPr>
            <a:r>
              <a:rPr sz="1050" b="0">
                <a:solidFill>
                  <a:srgbClr val="A8B8AD"/>
                </a:solidFill>
              </a:rPr>
              <a:t>local or remote</a:t>
            </a:r>
          </a:p>
        </p:txBody>
      </p:sp>
      <p:sp>
        <p:nvSpPr>
          <p:cNvPr id="27" name="training-env">
            <a:extLst xmlns:a="http://schemas.openxmlformats.org/drawingml/2006/main">
              <a:ext uri="{FF2B5EF4-FFF2-40B4-BE49-F238E27FC236}">
                <a16:creationId xmlns:a16="http://schemas.microsoft.com/office/drawing/2014/main" id="{165F7140-2E34-47F2-9C56-CF12992F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1DF"/>
                </a:solidFill>
              </a:defRPr>
            </a:pPr>
            <a:r>
              <a:rPr sz="1350" b="1">
                <a:solidFill>
                  <a:srgbClr val="F4F1DF"/>
                </a:solidFill>
              </a:rPr>
              <a:t>AMD ROCm 7.2  •  PyTorch 2.9  •  Q8 FunctionGemma  •  text-only LiteRT E2B</a:t>
            </a:r>
          </a:p>
        </p:txBody>
      </p:sp>
      <p:sp>
        <p:nvSpPr>
          <p:cNvPr id="28" name="training-integrity">
            <a:extLst xmlns:a="http://schemas.openxmlformats.org/drawingml/2006/main">
              <a:ext uri="{FF2B5EF4-FFF2-40B4-BE49-F238E27FC236}">
                <a16:creationId xmlns:a16="http://schemas.microsoft.com/office/drawing/2014/main" id="{54E80520-FA70-4E5C-A788-B7DB71E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8B8AD"/>
                </a:solidFill>
              </a:defRPr>
            </a:pPr>
            <a:r>
              <a:rPr sz="1275" b="0">
                <a:solidFill>
                  <a:srgbClr val="A8B8AD"/>
                </a:solidFill>
              </a:rPr>
              <a:t>3,982 valid task/parameter intersections; 18 invalid 270M assessments fail closed to Fireworks.</a:t>
            </a:r>
          </a:p>
        </p:txBody>
      </p:sp>
      <p:sp>
        <p:nvSpPr>
          <p:cNvPr id="29" name="footer-Source: ">
            <a:extLst xmlns:a="http://schemas.openxmlformats.org/drawingml/2006/main">
              <a:ext uri="{FF2B5EF4-FFF2-40B4-BE49-F238E27FC236}">
                <a16:creationId xmlns:a16="http://schemas.microsoft.com/office/drawing/2014/main" id="{2B3CF943-E8D1-41CA-B142-1E41555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Source: configs/e2b-regression-v2-runtime.json; reports/public/e2b-270m-matrix-regression.md</a:t>
            </a:r>
          </a:p>
        </p:txBody>
      </p:sp>
    </p:spTree>
    <p:extLst>
      <p:ext uri="{BB962C8B-B14F-4D97-AF65-F5344CB8AC3E}">
        <p14:creationId xmlns:p14="http://schemas.microsoft.com/office/powerpoint/2010/main" val="635188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492C33-3EC9-499C-9B02-1292876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6CDFB2CA-FC35-4058-80A2-F821338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48B63D8B-8A82-4797-8041-91FBC78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06 / 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6E31E85-20E7-4DF5-940F-60AAE3CF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1DF"/>
                </a:solidFill>
              </a:defRPr>
            </a:pPr>
            <a:r>
              <a:rPr sz="2925" b="1">
                <a:solidFill>
                  <a:srgbClr val="F4F1DF"/>
                </a:solidFill>
              </a:rPr>
              <a:t>Measured precision makes the token frontier actionable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24044-4007-4A40-90E2-B437A2E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  <p:sp>
        <p:nvSpPr>
          <p:cNvPr id="6" name="e2b-raw-box">
            <a:extLst xmlns:a="http://schemas.openxmlformats.org/drawingml/2006/main">
              <a:ext uri="{FF2B5EF4-FFF2-40B4-BE49-F238E27FC236}">
                <a16:creationId xmlns:a16="http://schemas.microsoft.com/office/drawing/2014/main" id="{1659E549-1D20-4992-8347-995A35D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7" name="e2b-raw-value">
            <a:extLst xmlns:a="http://schemas.openxmlformats.org/drawingml/2006/main">
              <a:ext uri="{FF2B5EF4-FFF2-40B4-BE49-F238E27FC236}">
                <a16:creationId xmlns:a16="http://schemas.microsoft.com/office/drawing/2014/main" id="{979D4E00-03BC-4D7E-8FC9-B31AEB2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DF"/>
                </a:solidFill>
              </a:defRPr>
            </a:pPr>
            <a:r>
              <a:rPr sz="2850" b="1">
                <a:solidFill>
                  <a:srgbClr val="F4F1DF"/>
                </a:solidFill>
              </a:rPr>
              <a:t>828</a:t>
            </a:r>
          </a:p>
        </p:txBody>
      </p:sp>
      <p:sp>
        <p:nvSpPr>
          <p:cNvPr id="8" name="e2b-raw-label">
            <a:extLst xmlns:a="http://schemas.openxmlformats.org/drawingml/2006/main">
              <a:ext uri="{FF2B5EF4-FFF2-40B4-BE49-F238E27FC236}">
                <a16:creationId xmlns:a16="http://schemas.microsoft.com/office/drawing/2014/main" id="{EB3FC28A-D558-4448-8936-08371C4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correct E2B answers after Answer Contract Engine</a:t>
            </a:r>
          </a:p>
        </p:txBody>
      </p:sp>
      <p:sp>
        <p:nvSpPr>
          <p:cNvPr id="9" name="e2b-precision-box">
            <a:extLst xmlns:a="http://schemas.openxmlformats.org/drawingml/2006/main">
              <a:ext uri="{FF2B5EF4-FFF2-40B4-BE49-F238E27FC236}">
                <a16:creationId xmlns:a16="http://schemas.microsoft.com/office/drawing/2014/main" id="{86B1FE14-A028-4D10-8EDE-539BEB9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0" name="e2b-precision-value">
            <a:extLst xmlns:a="http://schemas.openxmlformats.org/drawingml/2006/main">
              <a:ext uri="{FF2B5EF4-FFF2-40B4-BE49-F238E27FC236}">
                <a16:creationId xmlns:a16="http://schemas.microsoft.com/office/drawing/2014/main" id="{BA1E8261-7A36-4E96-B7FF-C2FE6839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FFFC3"/>
                </a:solidFill>
              </a:defRPr>
            </a:pPr>
            <a:r>
              <a:rPr sz="2850" b="1">
                <a:solidFill>
                  <a:srgbClr val="9FFFC3"/>
                </a:solidFill>
              </a:rPr>
              <a:t>84.52%</a:t>
            </a:r>
          </a:p>
        </p:txBody>
      </p:sp>
      <p:sp>
        <p:nvSpPr>
          <p:cNvPr id="11" name="e2b-precision-label">
            <a:extLst xmlns:a="http://schemas.openxmlformats.org/drawingml/2006/main">
              <a:ext uri="{FF2B5EF4-FFF2-40B4-BE49-F238E27FC236}">
                <a16:creationId xmlns:a16="http://schemas.microsoft.com/office/drawing/2014/main" id="{8BF6E10C-B728-452F-B230-F2515F8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out-of-fold precision • per-intent regression</a:t>
            </a:r>
          </a:p>
        </p:txBody>
      </p:sp>
      <p:sp>
        <p:nvSpPr>
          <p:cNvPr id="12" name="e2b-coverage-box">
            <a:extLst xmlns:a="http://schemas.openxmlformats.org/drawingml/2006/main">
              <a:ext uri="{FF2B5EF4-FFF2-40B4-BE49-F238E27FC236}">
                <a16:creationId xmlns:a16="http://schemas.microsoft.com/office/drawing/2014/main" id="{D0EF2106-8FAC-436E-93EE-9132A83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B15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3" name="e2b-coverage-value">
            <a:extLst xmlns:a="http://schemas.openxmlformats.org/drawingml/2006/main">
              <a:ext uri="{FF2B5EF4-FFF2-40B4-BE49-F238E27FC236}">
                <a16:creationId xmlns:a16="http://schemas.microsoft.com/office/drawing/2014/main" id="{AF1C4297-3315-4662-B4D3-5ED87B4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42B"/>
                </a:solidFill>
              </a:defRPr>
            </a:pPr>
            <a:r>
              <a:rPr sz="2850" b="1">
                <a:solidFill>
                  <a:srgbClr val="FF642B"/>
                </a:solidFill>
              </a:rPr>
              <a:t>12.66%</a:t>
            </a:r>
          </a:p>
        </p:txBody>
      </p:sp>
      <p:sp>
        <p:nvSpPr>
          <p:cNvPr id="14" name="e2b-coverage-label">
            <a:extLst xmlns:a="http://schemas.openxmlformats.org/drawingml/2006/main">
              <a:ext uri="{FF2B5EF4-FFF2-40B4-BE49-F238E27FC236}">
                <a16:creationId xmlns:a16="http://schemas.microsoft.com/office/drawing/2014/main" id="{562799FE-B3D0-473E-A135-301C4A1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8AD"/>
                </a:solidFill>
              </a:defRPr>
            </a:pPr>
            <a:r>
              <a:rPr sz="1200" b="0">
                <a:solidFill>
                  <a:srgbClr val="A8B8AD"/>
                </a:solidFill>
              </a:rPr>
              <a:t>selective local coverage • 252 of 1,991</a:t>
            </a:r>
          </a:p>
        </p:txBody>
      </p:sp>
      <p:sp>
        <p:nvSpPr>
          <p:cNvPr id="15" name="ship">
            <a:extLst xmlns:a="http://schemas.openxmlformats.org/drawingml/2006/main">
              <a:ext uri="{FF2B5EF4-FFF2-40B4-BE49-F238E27FC236}">
                <a16:creationId xmlns:a16="http://schemas.microsoft.com/office/drawing/2014/main" id="{5F13D54D-937F-4325-B1FF-F4A720A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100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20E"/>
          </a:solidFill>
          <a:ln xmlns:a="http://schemas.openxmlformats.org/drawingml/2006/main" w="19050">
            <a:solidFill>
              <a:srgbClr val="173324"/>
            </a:solidFill>
            <a:prstDash val="solid"/>
          </a:ln>
        </p:spPr>
      </p:sp>
      <p:sp>
        <p:nvSpPr>
          <p:cNvPr id="16" name="ship-title">
            <a:extLst xmlns:a="http://schemas.openxmlformats.org/drawingml/2006/main">
              <a:ext uri="{FF2B5EF4-FFF2-40B4-BE49-F238E27FC236}">
                <a16:creationId xmlns:a16="http://schemas.microsoft.com/office/drawing/2014/main" id="{1D3FEEA0-4437-4BFB-861D-0600B454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42B"/>
                </a:solidFill>
              </a:defRPr>
            </a:pPr>
            <a:r>
              <a:rPr sz="1425" b="1">
                <a:solidFill>
                  <a:srgbClr val="FF642B"/>
                </a:solidFill>
              </a:rPr>
              <a:t>THE PUBLIC RELEASE</a:t>
            </a:r>
          </a:p>
        </p:txBody>
      </p:sp>
      <p:sp>
        <p:nvSpPr>
          <p:cNvPr id="17" name="ship-main">
            <a:extLst xmlns:a="http://schemas.openxmlformats.org/drawingml/2006/main">
              <a:ext uri="{FF2B5EF4-FFF2-40B4-BE49-F238E27FC236}">
                <a16:creationId xmlns:a16="http://schemas.microsoft.com/office/drawing/2014/main" id="{D0F6E092-8097-4305-8B27-3E34EE45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1DF"/>
                </a:solidFill>
              </a:defRPr>
            </a:pPr>
            <a:r>
              <a:rPr sz="2850" b="1">
                <a:solidFill>
                  <a:srgbClr val="F4F1DF"/>
                </a:solidFill>
              </a:rPr>
              <a:t>45.7 MB</a:t>
            </a:r>
          </a:p>
        </p:txBody>
      </p:sp>
      <p:sp>
        <p:nvSpPr>
          <p:cNvPr id="18" name="ship-label">
            <a:extLst xmlns:a="http://schemas.openxmlformats.org/drawingml/2006/main">
              <a:ext uri="{FF2B5EF4-FFF2-40B4-BE49-F238E27FC236}">
                <a16:creationId xmlns:a16="http://schemas.microsoft.com/office/drawing/2014/main" id="{BF6FB72F-B6E3-4AD8-9793-F8EF35B8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compressed linux/amd64 image</a:t>
            </a:r>
          </a:p>
        </p:txBody>
      </p:sp>
      <p:sp>
        <p:nvSpPr>
          <p:cNvPr id="19" name="ship-tests">
            <a:extLst xmlns:a="http://schemas.openxmlformats.org/drawingml/2006/main">
              <a:ext uri="{FF2B5EF4-FFF2-40B4-BE49-F238E27FC236}">
                <a16:creationId xmlns:a16="http://schemas.microsoft.com/office/drawing/2014/main" id="{C4CFC618-5CA7-4165-888B-BD100B7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FFFC3"/>
                </a:solidFill>
              </a:defRPr>
            </a:pPr>
            <a:r>
              <a:rPr sz="2400" b="1">
                <a:solidFill>
                  <a:srgbClr val="9FFFC3"/>
                </a:solidFill>
              </a:rPr>
              <a:t>595 TESTS</a:t>
            </a:r>
          </a:p>
        </p:txBody>
      </p:sp>
      <p:sp>
        <p:nvSpPr>
          <p:cNvPr id="20" name="ship-tests-label">
            <a:extLst xmlns:a="http://schemas.openxmlformats.org/drawingml/2006/main">
              <a:ext uri="{FF2B5EF4-FFF2-40B4-BE49-F238E27FC236}">
                <a16:creationId xmlns:a16="http://schemas.microsoft.com/office/drawing/2014/main" id="{C2021C2C-20AA-4FD3-8883-7AACC7A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CI + Docker gates green</a:t>
            </a:r>
          </a:p>
        </p:txBody>
      </p:sp>
      <p:sp>
        <p:nvSpPr>
          <p:cNvPr id="21" name="ship-runtime">
            <a:extLst xmlns:a="http://schemas.openxmlformats.org/drawingml/2006/main">
              <a:ext uri="{FF2B5EF4-FFF2-40B4-BE49-F238E27FC236}">
                <a16:creationId xmlns:a16="http://schemas.microsoft.com/office/drawing/2014/main" id="{68D447B4-1708-4F71-9972-063CDDE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29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42B"/>
                </a:solidFill>
              </a:defRPr>
            </a:pPr>
            <a:r>
              <a:rPr sz="2400" b="1">
                <a:solidFill>
                  <a:srgbClr val="FF642B"/>
                </a:solidFill>
              </a:rPr>
              <a:t>1 SECOND</a:t>
            </a:r>
          </a:p>
        </p:txBody>
      </p:sp>
      <p:sp>
        <p:nvSpPr>
          <p:cNvPr id="22" name="ship-runtime-label">
            <a:extLst xmlns:a="http://schemas.openxmlformats.org/drawingml/2006/main">
              <a:ext uri="{FF2B5EF4-FFF2-40B4-BE49-F238E27FC236}">
                <a16:creationId xmlns:a16="http://schemas.microsoft.com/office/drawing/2014/main" id="{AE489022-554B-40D6-B0FF-0E5E29A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8AD"/>
                </a:solidFill>
              </a:defRPr>
            </a:pPr>
            <a:r>
              <a:rPr sz="1125" b="0">
                <a:solidFill>
                  <a:srgbClr val="A8B8AD"/>
                </a:solidFill>
              </a:rPr>
              <a:t>official smoke runtime</a:t>
            </a:r>
          </a:p>
        </p:txBody>
      </p:sp>
      <p:sp>
        <p:nvSpPr>
          <p:cNvPr id="23" name="ship-close">
            <a:extLst xmlns:a="http://schemas.openxmlformats.org/drawingml/2006/main">
              <a:ext uri="{FF2B5EF4-FFF2-40B4-BE49-F238E27FC236}">
                <a16:creationId xmlns:a16="http://schemas.microsoft.com/office/drawing/2014/main" id="{9915822E-DF5E-4CC1-BD9E-A7CCF88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F1DF"/>
                </a:solidFill>
              </a:defRPr>
            </a:pPr>
            <a:r>
              <a:rPr sz="1950" b="1">
                <a:solidFill>
                  <a:srgbClr val="F4F1DF"/>
                </a:solidFill>
              </a:rPr>
              <a:t>More answers per token. Accuracy protected.</a:t>
            </a:r>
          </a:p>
        </p:txBody>
      </p:sp>
      <p:sp>
        <p:nvSpPr>
          <p:cNvPr id="24" name="footer-GHCR: gh">
            <a:extLst xmlns:a="http://schemas.openxmlformats.org/drawingml/2006/main">
              <a:ext uri="{FF2B5EF4-FFF2-40B4-BE49-F238E27FC236}">
                <a16:creationId xmlns:a16="http://schemas.microsoft.com/office/drawing/2014/main" id="{2900196D-7A43-4FAB-B9BC-109DB80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0"/>
                </a:solidFill>
              </a:defRPr>
            </a:pPr>
            <a:r>
              <a:rPr sz="825" b="0">
                <a:solidFill>
                  <a:srgbClr val="587060"/>
                </a:solidFill>
              </a:rPr>
              <a:t>GHCR: ghcr.io/rvbernucci/track1-token-router:v2.1.0-proof-router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0301C-3326-4D1B-8F0A-9705C37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2B"/>
          </a:solidFill>
          <a:ln xmlns:a="http://schemas.openxmlformats.org/drawingml/2006/main" w="0">
            <a:noFill/>
          </a:ln>
        </p:spPr>
      </p:sp>
      <p:sp>
        <p:nvSpPr>
          <p:cNvPr id="26" name="eyebrow-6-top">
            <a:extLst xmlns:a="http://schemas.openxmlformats.org/drawingml/2006/main">
              <a:ext uri="{FF2B5EF4-FFF2-40B4-BE49-F238E27FC236}">
                <a16:creationId xmlns:a16="http://schemas.microsoft.com/office/drawing/2014/main" id="{73CE2363-F94A-4A2A-A212-CFD17EE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42B"/>
                </a:solidFill>
              </a:defRPr>
            </a:pPr>
            <a:r>
              <a:rPr sz="1200" b="1">
                <a:solidFill>
                  <a:srgbClr val="FF642B"/>
                </a:solidFill>
              </a:rPr>
              <a:t>PROOFROUTE // AMD ACT II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6B220-2064-4871-A735-20596EC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6"/>
          </a:solidFill>
          <a:ln xmlns:a="http://schemas.openxmlformats.org/drawingml/2006/main" w="0">
            <a:noFill/>
          </a:ln>
        </p:spPr>
      </p:sp>
      <p:sp>
        <p:nvSpPr>
          <p:cNvPr id="28" name="page-6-top">
            <a:extLst xmlns:a="http://schemas.openxmlformats.org/drawingml/2006/main">
              <a:ext uri="{FF2B5EF4-FFF2-40B4-BE49-F238E27FC236}">
                <a16:creationId xmlns:a16="http://schemas.microsoft.com/office/drawing/2014/main" id="{3B3AA6BE-4EAD-4052-983C-34B94C2E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FFFC3"/>
                </a:solidFill>
              </a:defRPr>
            </a:pPr>
            <a:r>
              <a:rPr sz="1125" b="1">
                <a:solidFill>
                  <a:srgbClr val="9FFFC3"/>
                </a:solidFill>
              </a:rPr>
              <a:t>06 / 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BCE65-5D92-490B-97DC-DE35ACA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7494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2026-07-11T12:34:49.9770000Z</dcterms:created>
  <dcterms:modified xsi:type="dcterms:W3CDTF">2026-07-11T12:34:49.9770000Z</dcterms:modified>
</coreProperties>
</file>