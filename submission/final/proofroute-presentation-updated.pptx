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a872c2ce2e49ba" /><Relationship Type="http://schemas.openxmlformats.org/officeDocument/2006/relationships/extended-properties" Target="/docProps/app.xml" Id="Rec5d900f8eb64491" /><Relationship Type="http://schemas.openxmlformats.org/officeDocument/2006/relationships/officeDocument" Target="/ppt/presentation.xml" Id="R1f3719742dba45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556ddc71514e14"/>
  </p:sldMasterIdLst>
  <p:notesMasterIdLst>
    <p:notesMasterId xmlns:r="http://schemas.openxmlformats.org/officeDocument/2006/relationships" r:id="R44c2c521b8ab4b95"/>
  </p:notesMasterIdLst>
  <p:sldIdLst>
    <p:sldId xmlns:r="http://schemas.openxmlformats.org/officeDocument/2006/relationships" id="256" r:id="Rf61178fb535c44e3"/>
    <p:sldId xmlns:r="http://schemas.openxmlformats.org/officeDocument/2006/relationships" id="257" r:id="R55ed296fdbee47ee"/>
    <p:sldId xmlns:r="http://schemas.openxmlformats.org/officeDocument/2006/relationships" id="258" r:id="R489f833940a34fd0"/>
    <p:sldId xmlns:r="http://schemas.openxmlformats.org/officeDocument/2006/relationships" id="259" r:id="R398426e62e144cc2"/>
    <p:sldId xmlns:r="http://schemas.openxmlformats.org/officeDocument/2006/relationships" id="260" r:id="R90484a3f5e5f45e2"/>
    <p:sldId xmlns:r="http://schemas.openxmlformats.org/officeDocument/2006/relationships" id="261" r:id="Rf3a3bdd5b68d45d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2d2708de394fcc" /><Relationship Type="http://schemas.openxmlformats.org/officeDocument/2006/relationships/slideMaster" Target="/ppt/slideMasters/slideMaster1.xml" Id="Ra5556ddc71514e14" /><Relationship Type="http://schemas.openxmlformats.org/officeDocument/2006/relationships/notesMaster" Target="/ppt/notesMasters/notesMaster1.xml" Id="R44c2c521b8ab4b95" /><Relationship Type="http://schemas.openxmlformats.org/officeDocument/2006/relationships/presProps" Target="/ppt/presProps.xml" Id="R5fde408b48944ac2" /><Relationship Type="http://schemas.openxmlformats.org/officeDocument/2006/relationships/tableStyles" Target="/ppt/tableStyles.xml" Id="Ra94c2e84800b471c" /><Relationship Type="http://schemas.openxmlformats.org/officeDocument/2006/relationships/slide" Target="/ppt/slides/slide1.xml" Id="Rf61178fb535c44e3" /><Relationship Type="http://schemas.openxmlformats.org/officeDocument/2006/relationships/slide" Target="/ppt/slides/slide2.xml" Id="R55ed296fdbee47ee" /><Relationship Type="http://schemas.openxmlformats.org/officeDocument/2006/relationships/slide" Target="/ppt/slides/slide3.xml" Id="R489f833940a34fd0" /><Relationship Type="http://schemas.openxmlformats.org/officeDocument/2006/relationships/slide" Target="/ppt/slides/slide4.xml" Id="R398426e62e144cc2" /><Relationship Type="http://schemas.openxmlformats.org/officeDocument/2006/relationships/slide" Target="/ppt/slides/slide5.xml" Id="R90484a3f5e5f45e2" /><Relationship Type="http://schemas.openxmlformats.org/officeDocument/2006/relationships/slide" Target="/ppt/slides/slide6.xml" Id="Rf3a3bdd5b68d45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d7540404694f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0339029ef6498e" /><Relationship Type="http://schemas.openxmlformats.org/officeDocument/2006/relationships/notesMaster" Target="/ppt/notesMasters/notesMaster1.xml" Id="R602b05760a4f4d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c9ffb3849b44c0" /><Relationship Type="http://schemas.openxmlformats.org/officeDocument/2006/relationships/notesMaster" Target="/ppt/notesMasters/notesMaster1.xml" Id="R6687cec1f5d549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464ab9af964c8d" /><Relationship Type="http://schemas.openxmlformats.org/officeDocument/2006/relationships/notesMaster" Target="/ppt/notesMasters/notesMaster1.xml" Id="R1b2e7206f26141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e8677fef2341ee" /><Relationship Type="http://schemas.openxmlformats.org/officeDocument/2006/relationships/notesMaster" Target="/ppt/notesMasters/notesMaster1.xml" Id="R4dee5ae70f1b4e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e0a41fa64d43cd" /><Relationship Type="http://schemas.openxmlformats.org/officeDocument/2006/relationships/notesMaster" Target="/ppt/notesMasters/notesMaster1.xml" Id="Rbd34b54457c74b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81ea05a4c94417" /><Relationship Type="http://schemas.openxmlformats.org/officeDocument/2006/relationships/notesMaster" Target="/ppt/notesMasters/notesMaster1.xml" Id="Rb3a8b01ee04d4f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ed7c5cfa444f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f80f6c03854f5a" /><Relationship Type="http://schemas.openxmlformats.org/officeDocument/2006/relationships/slideLayout" Target="/ppt/slideLayouts/slideLayout1.xml" Id="R515cca67db4b4f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5cca67db4b4f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d50f59c3d4699" /><Relationship Type="http://schemas.openxmlformats.org/officeDocument/2006/relationships/image" Target="/ppt/media/image.png" Id="Rff1b8ae95ccc4a2e" /><Relationship Type="http://schemas.openxmlformats.org/officeDocument/2006/relationships/notesSlide" Target="/ppt/notesSlides/notesSlide1.xml" Id="Rebcf7faf3b6645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653ae69b84a77" /><Relationship Type="http://schemas.openxmlformats.org/officeDocument/2006/relationships/notesSlide" Target="/ppt/notesSlides/notesSlide2.xml" Id="R31a9ff3c73b249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f2adba81744e97" /><Relationship Type="http://schemas.openxmlformats.org/officeDocument/2006/relationships/notesSlide" Target="/ppt/notesSlides/notesSlide3.xml" Id="Ra6bcd09c9c0340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085d2fb2b479b" /><Relationship Type="http://schemas.openxmlformats.org/officeDocument/2006/relationships/notesSlide" Target="/ppt/notesSlides/notesSlide4.xml" Id="R2df69a8469c942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f400e0a7a4a55" /><Relationship Type="http://schemas.openxmlformats.org/officeDocument/2006/relationships/notesSlide" Target="/ppt/notesSlides/notesSlide5.xml" Id="R541bb064dca449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9db761d87a4df6" /><Relationship Type="http://schemas.openxmlformats.org/officeDocument/2006/relationships/notesSlide" Target="/ppt/notesSlides/notesSlide6.xml" Id="R1e10bc9365f4401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1b8ae95ccc4a2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2F881E1A-A1B9-4C75-A76E-48A902C4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03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9FFFC3"/>
                </a:solidFill>
              </a:defRPr>
            </a:pPr>
            <a:r>
              <a:rPr sz="1125" b="1">
                <a:solidFill>
                  <a:srgbClr val="9FFFC3"/>
                </a:solidFill>
              </a:rPr>
              <a:t>AMD DEVELOPER HACKATHON ACT II // TRACK 1</a:t>
            </a:r>
          </a:p>
        </p:txBody>
      </p:sp>
    </p:spTree>
    <p:extLst>
      <p:ext uri="{BB962C8B-B14F-4D97-AF65-F5344CB8AC3E}">
        <p14:creationId xmlns:p14="http://schemas.microsoft.com/office/powerpoint/2010/main" val="6355262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8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1AFF73-1B20-4038-895C-1C02D448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42B"/>
          </a:solidFill>
          <a:ln xmlns:a="http://schemas.openxmlformats.org/drawingml/2006/main" w="0">
            <a:noFill/>
          </a:ln>
        </p:spPr>
      </p:sp>
      <p:sp>
        <p:nvSpPr>
          <p:cNvPr id="2" name="eyebrow-2">
            <a:extLst xmlns:a="http://schemas.openxmlformats.org/drawingml/2006/main">
              <a:ext uri="{FF2B5EF4-FFF2-40B4-BE49-F238E27FC236}">
                <a16:creationId xmlns:a16="http://schemas.microsoft.com/office/drawing/2014/main" id="{F278B144-C6FE-4AA3-B44D-B59F369E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642B"/>
                </a:solidFill>
              </a:defRPr>
            </a:pPr>
            <a:r>
              <a:rPr sz="1200" b="1">
                <a:solidFill>
                  <a:srgbClr val="FF642B"/>
                </a:solidFill>
              </a:rPr>
              <a:t>PROOFROUTE // AMD ACT II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6892670F-EDEC-42AF-BA84-53583F0E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857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9FFFC3"/>
                </a:solidFill>
              </a:defRPr>
            </a:pPr>
            <a:r>
              <a:rPr sz="1125" b="1">
                <a:solidFill>
                  <a:srgbClr val="9FFFC3"/>
                </a:solidFill>
              </a:rPr>
              <a:t>02 / 06</a:t>
            </a:r>
          </a:p>
        </p:txBody>
      </p:sp>
      <p:sp>
        <p:nvSpPr>
          <p:cNvPr id="4" name="title-2">
            <a:extLst xmlns:a="http://schemas.openxmlformats.org/drawingml/2006/main">
              <a:ext uri="{FF2B5EF4-FFF2-40B4-BE49-F238E27FC236}">
                <a16:creationId xmlns:a16="http://schemas.microsoft.com/office/drawing/2014/main" id="{DA85C51E-2270-4573-BDFB-545352B1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1DF"/>
                </a:solidFill>
              </a:defRPr>
            </a:pPr>
            <a:r>
              <a:rPr sz="2925" b="1">
                <a:solidFill>
                  <a:srgbClr val="F4F1DF"/>
                </a:solidFill>
              </a:rPr>
              <a:t>Not every query should pay the full price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F7F162-C35C-41A2-89A8-83ACCD79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324"/>
          </a:solidFill>
          <a:ln xmlns:a="http://schemas.openxmlformats.org/drawingml/2006/main" w="0">
            <a:noFill/>
          </a:ln>
        </p:spPr>
      </p:sp>
      <p:sp>
        <p:nvSpPr>
          <p:cNvPr id="6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7351891A-5CA2-4193-B05B-D35841E8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33550"/>
            <a:ext cx="533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4F1DF"/>
                </a:solidFill>
              </a:defRPr>
            </a:pPr>
            <a:r>
              <a:rPr sz="2100" b="1">
                <a:solidFill>
                  <a:srgbClr val="F4F1DF"/>
                </a:solidFill>
              </a:rPr>
              <a:t>ProofRoute turns inference cost into a decision.</a:t>
            </a:r>
          </a:p>
        </p:txBody>
      </p:sp>
      <p:sp>
        <p:nvSpPr>
          <p:cNvPr id="7" name="problem-body">
            <a:extLst xmlns:a="http://schemas.openxmlformats.org/drawingml/2006/main">
              <a:ext uri="{FF2B5EF4-FFF2-40B4-BE49-F238E27FC236}">
                <a16:creationId xmlns:a16="http://schemas.microsoft.com/office/drawing/2014/main" id="{BAED405D-60B4-43AF-B8BB-340F13CF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A8B8AD"/>
                </a:solidFill>
              </a:defRPr>
            </a:pPr>
            <a:r>
              <a:rPr sz="1500" b="0">
                <a:solidFill>
                  <a:srgbClr val="A8B8AD"/>
                </a:solidFill>
              </a:rPr>
              <a:t>Prove deterministic work locally. Use calibrated local intelligence only where evidence supports it. Buy remote intelligence when uncertainty demands it.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1112BE27-F210-45E6-9BE0-7771381E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8630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642B"/>
                </a:solidFill>
              </a:defRPr>
            </a:pPr>
            <a:r>
              <a:rPr sz="1650" b="1">
                <a:solidFill>
                  <a:srgbClr val="FF642B"/>
                </a:solidFill>
              </a:rPr>
              <a:t>Accuracy is the gate. Token efficiency is the advantage.</a:t>
            </a:r>
          </a:p>
        </p:txBody>
      </p:sp>
      <p:sp>
        <p:nvSpPr>
          <p:cNvPr id="9" name="cost-frame">
            <a:extLst xmlns:a="http://schemas.openxmlformats.org/drawingml/2006/main">
              <a:ext uri="{FF2B5EF4-FFF2-40B4-BE49-F238E27FC236}">
                <a16:creationId xmlns:a16="http://schemas.microsoft.com/office/drawing/2014/main" id="{A3B868C2-84DD-49B5-B061-758F0DE0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4005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0A120E"/>
          </a:solidFill>
          <a:ln xmlns:a="http://schemas.openxmlformats.org/drawingml/2006/main" w="19050">
            <a:solidFill>
              <a:srgbClr val="173324"/>
            </a:solidFill>
            <a:prstDash val="solid"/>
          </a:ln>
        </p:spPr>
      </p:sp>
      <p:sp>
        <p:nvSpPr>
          <p:cNvPr id="10" name="old-label">
            <a:extLst xmlns:a="http://schemas.openxmlformats.org/drawingml/2006/main">
              <a:ext uri="{FF2B5EF4-FFF2-40B4-BE49-F238E27FC236}">
                <a16:creationId xmlns:a16="http://schemas.microsoft.com/office/drawing/2014/main" id="{CBC6FAE8-5DE8-4D6C-BB64-9613B5DB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717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A8B8AD"/>
                </a:solidFill>
              </a:defRPr>
            </a:pPr>
            <a:r>
              <a:rPr sz="1275" b="1">
                <a:solidFill>
                  <a:srgbClr val="A8B8AD"/>
                </a:solidFill>
              </a:rPr>
              <a:t>ALWAYS REMOTE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5E6E85-680B-47A2-A25C-A74F9C3F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0985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3F21"/>
          </a:solidFill>
          <a:ln xmlns:a="http://schemas.openxmlformats.org/drawingml/2006/main" w="0">
            <a:noFill/>
          </a:ln>
        </p:spPr>
      </p:sp>
      <p:sp>
        <p:nvSpPr>
          <p:cNvPr id="12" name="old-cost">
            <a:extLst xmlns:a="http://schemas.openxmlformats.org/drawingml/2006/main">
              <a:ext uri="{FF2B5EF4-FFF2-40B4-BE49-F238E27FC236}">
                <a16:creationId xmlns:a16="http://schemas.microsoft.com/office/drawing/2014/main" id="{87C5FF8D-16C5-4804-A0B3-7CDE3E26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051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F1DF"/>
                </a:solidFill>
              </a:defRPr>
            </a:pPr>
            <a:r>
              <a:rPr sz="1350" b="1">
                <a:solidFill>
                  <a:srgbClr val="F4F1DF"/>
                </a:solidFill>
              </a:rPr>
              <a:t>FULL TOKEN COST</a:t>
            </a:r>
          </a:p>
        </p:txBody>
      </p:sp>
      <p:sp>
        <p:nvSpPr>
          <p:cNvPr id="13" name="new-label">
            <a:extLst xmlns:a="http://schemas.openxmlformats.org/drawingml/2006/main">
              <a:ext uri="{FF2B5EF4-FFF2-40B4-BE49-F238E27FC236}">
                <a16:creationId xmlns:a16="http://schemas.microsoft.com/office/drawing/2014/main" id="{98749AC7-0D29-4F31-B341-CA7B28BC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242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FFFC3"/>
                </a:solidFill>
              </a:defRPr>
            </a:pPr>
            <a:r>
              <a:rPr sz="1275" b="1">
                <a:solidFill>
                  <a:srgbClr val="9FFFC3"/>
                </a:solidFill>
              </a:rPr>
              <a:t>PROOFROUTE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52F135-474F-4D39-8BAE-B6C1B687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62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FFC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F2ED3F-09BF-440F-AD32-2BC1A0F7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62400"/>
            <a:ext cx="2152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42B"/>
          </a:solidFill>
          <a:ln xmlns:a="http://schemas.openxmlformats.org/drawingml/2006/main" w="0">
            <a:noFill/>
          </a:ln>
        </p:spPr>
      </p:sp>
      <p:sp>
        <p:nvSpPr>
          <p:cNvPr id="16" name="new-local">
            <a:extLst xmlns:a="http://schemas.openxmlformats.org/drawingml/2006/main">
              <a:ext uri="{FF2B5EF4-FFF2-40B4-BE49-F238E27FC236}">
                <a16:creationId xmlns:a16="http://schemas.microsoft.com/office/drawing/2014/main" id="{9344542C-64F5-4044-A1E4-CFA9E431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0671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50806"/>
                </a:solidFill>
              </a:defRPr>
            </a:pPr>
            <a:r>
              <a:rPr sz="1200" b="1">
                <a:solidFill>
                  <a:srgbClr val="050806"/>
                </a:solidFill>
              </a:rPr>
              <a:t>LOCAL</a:t>
            </a:r>
          </a:p>
        </p:txBody>
      </p:sp>
      <p:sp>
        <p:nvSpPr>
          <p:cNvPr id="17" name="new-remote">
            <a:extLst xmlns:a="http://schemas.openxmlformats.org/drawingml/2006/main">
              <a:ext uri="{FF2B5EF4-FFF2-40B4-BE49-F238E27FC236}">
                <a16:creationId xmlns:a16="http://schemas.microsoft.com/office/drawing/2014/main" id="{B291E193-60A6-4216-BFFC-0C1AD7C7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67175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50806"/>
                </a:solidFill>
              </a:defRPr>
            </a:pPr>
            <a:r>
              <a:rPr sz="1050" b="1">
                <a:solidFill>
                  <a:srgbClr val="050806"/>
                </a:solidFill>
              </a:rPr>
              <a:t>REMOTE ONLY WHEN NEEDED</a:t>
            </a:r>
          </a:p>
        </p:txBody>
      </p:sp>
      <p:sp>
        <p:nvSpPr>
          <p:cNvPr id="18" name="footer-Product ">
            <a:extLst xmlns:a="http://schemas.openxmlformats.org/drawingml/2006/main">
              <a:ext uri="{FF2B5EF4-FFF2-40B4-BE49-F238E27FC236}">
                <a16:creationId xmlns:a16="http://schemas.microsoft.com/office/drawing/2014/main" id="{A77B0675-6345-428F-A604-69A71764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87060"/>
                </a:solidFill>
              </a:defRPr>
            </a:pPr>
            <a:r>
              <a:rPr sz="825" b="0">
                <a:solidFill>
                  <a:srgbClr val="587060"/>
                </a:solidFill>
              </a:rPr>
              <a:t>Product thesis validated against Track 1: accuracy gate first, scored Fireworks tokens second.</a:t>
            </a:r>
          </a:p>
        </p:txBody>
      </p:sp>
    </p:spTree>
    <p:extLst>
      <p:ext uri="{BB962C8B-B14F-4D97-AF65-F5344CB8AC3E}">
        <p14:creationId xmlns:p14="http://schemas.microsoft.com/office/powerpoint/2010/main" val="20082525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8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B848AB-ACBB-41B7-A216-FA99C6B7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42B"/>
          </a:solidFill>
          <a:ln xmlns:a="http://schemas.openxmlformats.org/drawingml/2006/main" w="0">
            <a:noFill/>
          </a:ln>
        </p:spPr>
      </p:sp>
      <p:sp>
        <p:nvSpPr>
          <p:cNvPr id="2" name="eyebrow-3">
            <a:extLst xmlns:a="http://schemas.openxmlformats.org/drawingml/2006/main">
              <a:ext uri="{FF2B5EF4-FFF2-40B4-BE49-F238E27FC236}">
                <a16:creationId xmlns:a16="http://schemas.microsoft.com/office/drawing/2014/main" id="{514C6CA1-BC4D-49A9-B503-F5AE32DD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642B"/>
                </a:solidFill>
              </a:defRPr>
            </a:pPr>
            <a:r>
              <a:rPr sz="1200" b="1">
                <a:solidFill>
                  <a:srgbClr val="FF642B"/>
                </a:solidFill>
              </a:rPr>
              <a:t>PROOFROUTE // AMD ACT II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4EFF1921-6661-47B2-94A1-CCFEBFBD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857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9FFFC3"/>
                </a:solidFill>
              </a:defRPr>
            </a:pPr>
            <a:r>
              <a:rPr sz="1125" b="1">
                <a:solidFill>
                  <a:srgbClr val="9FFFC3"/>
                </a:solidFill>
              </a:rPr>
              <a:t>03 / 06</a:t>
            </a:r>
          </a:p>
        </p:txBody>
      </p:sp>
      <p:sp>
        <p:nvSpPr>
          <p:cNvPr id="4" name="title-3">
            <a:extLst xmlns:a="http://schemas.openxmlformats.org/drawingml/2006/main">
              <a:ext uri="{FF2B5EF4-FFF2-40B4-BE49-F238E27FC236}">
                <a16:creationId xmlns:a16="http://schemas.microsoft.com/office/drawing/2014/main" id="{81E74AAB-29AC-42FB-ABEC-A8F4A195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1DF"/>
                </a:solidFill>
              </a:defRPr>
            </a:pPr>
            <a:r>
              <a:rPr sz="2925" b="1">
                <a:solidFill>
                  <a:srgbClr val="F4F1DF"/>
                </a:solidFill>
              </a:rPr>
              <a:t>Two evidence-backed paths share one answer contract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7C025-495E-43DD-BB93-A75506B7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324"/>
          </a:solidFill>
          <a:ln xmlns:a="http://schemas.openxmlformats.org/drawingml/2006/main" w="0">
            <a:noFill/>
          </a:ln>
        </p:spPr>
      </p:sp>
      <p:sp>
        <p:nvSpPr>
          <p:cNvPr id="6" name="runtime-lane">
            <a:extLst xmlns:a="http://schemas.openxmlformats.org/drawingml/2006/main">
              <a:ext uri="{FF2B5EF4-FFF2-40B4-BE49-F238E27FC236}">
                <a16:creationId xmlns:a16="http://schemas.microsoft.com/office/drawing/2014/main" id="{3187C1C2-2427-4E8B-A1F3-A4C23F1F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642B"/>
                </a:solidFill>
              </a:defRPr>
            </a:pPr>
            <a:r>
              <a:rPr sz="1275" b="1">
                <a:solidFill>
                  <a:srgbClr val="FF642B"/>
                </a:solidFill>
              </a:rPr>
              <a:t>SUBMITTED RUNTIME</a:t>
            </a:r>
          </a:p>
        </p:txBody>
      </p:sp>
      <p:sp>
        <p:nvSpPr>
          <p:cNvPr id="7" name="runtime-0">
            <a:extLst xmlns:a="http://schemas.openxmlformats.org/drawingml/2006/main">
              <a:ext uri="{FF2B5EF4-FFF2-40B4-BE49-F238E27FC236}">
                <a16:creationId xmlns:a16="http://schemas.microsoft.com/office/drawing/2014/main" id="{B1B75FDD-F699-41A8-A783-BDA43F8A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22669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1B15"/>
          </a:solidFill>
          <a:ln xmlns:a="http://schemas.openxmlformats.org/drawingml/2006/main" w="19050">
            <a:solidFill>
              <a:srgbClr val="173324"/>
            </a:solidFill>
            <a:prstDash val="solid"/>
          </a:ln>
        </p:spPr>
      </p:sp>
      <p:sp>
        <p:nvSpPr>
          <p:cNvPr id="8" name="runtime-title-0">
            <a:extLst xmlns:a="http://schemas.openxmlformats.org/drawingml/2006/main">
              <a:ext uri="{FF2B5EF4-FFF2-40B4-BE49-F238E27FC236}">
                <a16:creationId xmlns:a16="http://schemas.microsoft.com/office/drawing/2014/main" id="{6FEB2D1E-B17D-40D7-9203-8B02F864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4F1DF"/>
                </a:solidFill>
              </a:defRPr>
            </a:pPr>
            <a:r>
              <a:rPr sz="1350" b="1">
                <a:solidFill>
                  <a:srgbClr val="F4F1DF"/>
                </a:solidFill>
              </a:rPr>
              <a:t>ENVELOPE SPLIT</a:t>
            </a:r>
          </a:p>
        </p:txBody>
      </p:sp>
      <p:sp>
        <p:nvSpPr>
          <p:cNvPr id="9" name="runtime-sub-0">
            <a:extLst xmlns:a="http://schemas.openxmlformats.org/drawingml/2006/main">
              <a:ext uri="{FF2B5EF4-FFF2-40B4-BE49-F238E27FC236}">
                <a16:creationId xmlns:a16="http://schemas.microsoft.com/office/drawing/2014/main" id="{38F428E1-7337-4514-ABF0-89A589D8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A8B8AD"/>
                </a:solidFill>
              </a:defRPr>
            </a:pPr>
            <a:r>
              <a:rPr sz="975" b="0">
                <a:solidFill>
                  <a:srgbClr val="A8B8AD"/>
                </a:solidFill>
              </a:rPr>
              <a:t>hold task_id • send prompt</a:t>
            </a:r>
          </a:p>
        </p:txBody>
      </p:sp>
      <p:sp>
        <p:nvSpPr>
          <p:cNvPr id="10" name="runtime-arrow-0">
            <a:extLst xmlns:a="http://schemas.openxmlformats.org/drawingml/2006/main">
              <a:ext uri="{FF2B5EF4-FFF2-40B4-BE49-F238E27FC236}">
                <a16:creationId xmlns:a16="http://schemas.microsoft.com/office/drawing/2014/main" id="{56391D68-4BF1-4B48-9E85-4B30ACB1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6220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642B"/>
                </a:solidFill>
              </a:defRPr>
            </a:pPr>
            <a:r>
              <a:rPr sz="2250" b="1">
                <a:solidFill>
                  <a:srgbClr val="FF642B"/>
                </a:solidFill>
              </a:rPr>
              <a:t>→</a:t>
            </a:r>
          </a:p>
        </p:txBody>
      </p:sp>
      <p:sp>
        <p:nvSpPr>
          <p:cNvPr id="11" name="runtime-1">
            <a:extLst xmlns:a="http://schemas.openxmlformats.org/drawingml/2006/main">
              <a:ext uri="{FF2B5EF4-FFF2-40B4-BE49-F238E27FC236}">
                <a16:creationId xmlns:a16="http://schemas.microsoft.com/office/drawing/2014/main" id="{FD3DEB98-0BE7-49CA-8E3A-22BB9CF5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33600"/>
            <a:ext cx="22669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1B15"/>
          </a:solidFill>
          <a:ln xmlns:a="http://schemas.openxmlformats.org/drawingml/2006/main" w="19050">
            <a:solidFill>
              <a:srgbClr val="9FFFC3"/>
            </a:solidFill>
            <a:prstDash val="solid"/>
          </a:ln>
        </p:spPr>
      </p:sp>
      <p:sp>
        <p:nvSpPr>
          <p:cNvPr id="12" name="runtime-title-1">
            <a:extLst xmlns:a="http://schemas.openxmlformats.org/drawingml/2006/main">
              <a:ext uri="{FF2B5EF4-FFF2-40B4-BE49-F238E27FC236}">
                <a16:creationId xmlns:a16="http://schemas.microsoft.com/office/drawing/2014/main" id="{29F6A298-B35F-4B0D-B417-694BA88E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24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9FFFC3"/>
                </a:solidFill>
              </a:defRPr>
            </a:pPr>
            <a:r>
              <a:rPr sz="1350" b="1">
                <a:solidFill>
                  <a:srgbClr val="9FFFC3"/>
                </a:solidFill>
              </a:rPr>
              <a:t>PROOF ENGINE</a:t>
            </a:r>
          </a:p>
        </p:txBody>
      </p:sp>
      <p:sp>
        <p:nvSpPr>
          <p:cNvPr id="13" name="runtime-sub-1">
            <a:extLst xmlns:a="http://schemas.openxmlformats.org/drawingml/2006/main">
              <a:ext uri="{FF2B5EF4-FFF2-40B4-BE49-F238E27FC236}">
                <a16:creationId xmlns:a16="http://schemas.microsoft.com/office/drawing/2014/main" id="{2E4D2D99-BFE2-4B52-9040-C4B65D41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67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A8B8AD"/>
                </a:solidFill>
              </a:defRPr>
            </a:pPr>
            <a:r>
              <a:rPr sz="975" b="0">
                <a:solidFill>
                  <a:srgbClr val="A8B8AD"/>
                </a:solidFill>
              </a:rPr>
              <a:t>unique or refuse</a:t>
            </a:r>
          </a:p>
        </p:txBody>
      </p:sp>
      <p:sp>
        <p:nvSpPr>
          <p:cNvPr id="14" name="runtime-arrow-1">
            <a:extLst xmlns:a="http://schemas.openxmlformats.org/drawingml/2006/main">
              <a:ext uri="{FF2B5EF4-FFF2-40B4-BE49-F238E27FC236}">
                <a16:creationId xmlns:a16="http://schemas.microsoft.com/office/drawing/2014/main" id="{C59DFAC1-8F52-4A62-A087-5C5B69E8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36220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642B"/>
                </a:solidFill>
              </a:defRPr>
            </a:pPr>
            <a:r>
              <a:rPr sz="2250" b="1">
                <a:solidFill>
                  <a:srgbClr val="FF642B"/>
                </a:solidFill>
              </a:rPr>
              <a:t>→</a:t>
            </a:r>
          </a:p>
        </p:txBody>
      </p:sp>
      <p:sp>
        <p:nvSpPr>
          <p:cNvPr id="15" name="runtime-2">
            <a:extLst xmlns:a="http://schemas.openxmlformats.org/drawingml/2006/main">
              <a:ext uri="{FF2B5EF4-FFF2-40B4-BE49-F238E27FC236}">
                <a16:creationId xmlns:a16="http://schemas.microsoft.com/office/drawing/2014/main" id="{14A17FCB-8BE3-4755-9247-A84C3713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33600"/>
            <a:ext cx="22669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1B15"/>
          </a:solidFill>
          <a:ln xmlns:a="http://schemas.openxmlformats.org/drawingml/2006/main" w="19050">
            <a:solidFill>
              <a:srgbClr val="173324"/>
            </a:solidFill>
            <a:prstDash val="solid"/>
          </a:ln>
        </p:spPr>
      </p:sp>
      <p:sp>
        <p:nvSpPr>
          <p:cNvPr id="16" name="runtime-title-2">
            <a:extLst xmlns:a="http://schemas.openxmlformats.org/drawingml/2006/main">
              <a:ext uri="{FF2B5EF4-FFF2-40B4-BE49-F238E27FC236}">
                <a16:creationId xmlns:a16="http://schemas.microsoft.com/office/drawing/2014/main" id="{B9CFAE0F-D295-40C2-B03E-C43E4BBC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4F1DF"/>
                </a:solidFill>
              </a:defRPr>
            </a:pPr>
            <a:r>
              <a:rPr sz="1350" b="1">
                <a:solidFill>
                  <a:srgbClr val="F4F1DF"/>
                </a:solidFill>
              </a:rPr>
              <a:t>FIREWORKS</a:t>
            </a:r>
          </a:p>
        </p:txBody>
      </p:sp>
      <p:sp>
        <p:nvSpPr>
          <p:cNvPr id="17" name="runtime-sub-2">
            <a:extLst xmlns:a="http://schemas.openxmlformats.org/drawingml/2006/main">
              <a:ext uri="{FF2B5EF4-FFF2-40B4-BE49-F238E27FC236}">
                <a16:creationId xmlns:a16="http://schemas.microsoft.com/office/drawing/2014/main" id="{C88B22F9-B56B-41A7-AC7B-E66BBFA2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67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A8B8AD"/>
                </a:solidFill>
              </a:defRPr>
            </a:pPr>
            <a:r>
              <a:rPr sz="975" b="0">
                <a:solidFill>
                  <a:srgbClr val="A8B8AD"/>
                </a:solidFill>
              </a:rPr>
              <a:t>answer only</a:t>
            </a:r>
          </a:p>
        </p:txBody>
      </p:sp>
      <p:sp>
        <p:nvSpPr>
          <p:cNvPr id="18" name="runtime-arrow-2">
            <a:extLst xmlns:a="http://schemas.openxmlformats.org/drawingml/2006/main">
              <a:ext uri="{FF2B5EF4-FFF2-40B4-BE49-F238E27FC236}">
                <a16:creationId xmlns:a16="http://schemas.microsoft.com/office/drawing/2014/main" id="{63D7BA76-08D7-4654-91DB-B6B575E7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6220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642B"/>
                </a:solidFill>
              </a:defRPr>
            </a:pPr>
            <a:r>
              <a:rPr sz="2250" b="1">
                <a:solidFill>
                  <a:srgbClr val="FF642B"/>
                </a:solidFill>
              </a:rPr>
              <a:t>→</a:t>
            </a:r>
          </a:p>
        </p:txBody>
      </p:sp>
      <p:sp>
        <p:nvSpPr>
          <p:cNvPr id="19" name="runtime-3">
            <a:extLst xmlns:a="http://schemas.openxmlformats.org/drawingml/2006/main">
              <a:ext uri="{FF2B5EF4-FFF2-40B4-BE49-F238E27FC236}">
                <a16:creationId xmlns:a16="http://schemas.microsoft.com/office/drawing/2014/main" id="{675D7FD5-3F07-4119-BF3F-7D344282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33600"/>
            <a:ext cx="22669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1B15"/>
          </a:solidFill>
          <a:ln xmlns:a="http://schemas.openxmlformats.org/drawingml/2006/main" w="19050">
            <a:solidFill>
              <a:srgbClr val="173324"/>
            </a:solidFill>
            <a:prstDash val="solid"/>
          </a:ln>
        </p:spPr>
      </p:sp>
      <p:sp>
        <p:nvSpPr>
          <p:cNvPr id="20" name="runtime-title-3">
            <a:extLst xmlns:a="http://schemas.openxmlformats.org/drawingml/2006/main">
              <a:ext uri="{FF2B5EF4-FFF2-40B4-BE49-F238E27FC236}">
                <a16:creationId xmlns:a16="http://schemas.microsoft.com/office/drawing/2014/main" id="{F09C7BC0-8AB7-437D-A73A-D4D08DAC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24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4F1DF"/>
                </a:solidFill>
              </a:defRPr>
            </a:pPr>
            <a:r>
              <a:rPr sz="1350" b="1">
                <a:solidFill>
                  <a:srgbClr val="F4F1DF"/>
                </a:solidFill>
              </a:rPr>
              <a:t>JSON REBUILD</a:t>
            </a:r>
          </a:p>
        </p:txBody>
      </p:sp>
      <p:sp>
        <p:nvSpPr>
          <p:cNvPr id="21" name="runtime-sub-3">
            <a:extLst xmlns:a="http://schemas.openxmlformats.org/drawingml/2006/main">
              <a:ext uri="{FF2B5EF4-FFF2-40B4-BE49-F238E27FC236}">
                <a16:creationId xmlns:a16="http://schemas.microsoft.com/office/drawing/2014/main" id="{9FAC640B-9F7C-4BDC-B56C-2FE046D9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67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A8B8AD"/>
                </a:solidFill>
              </a:defRPr>
            </a:pPr>
            <a:r>
              <a:rPr sz="975" b="0">
                <a:solidFill>
                  <a:srgbClr val="A8B8AD"/>
                </a:solidFill>
              </a:rPr>
              <a:t>{task_id, answer}</a:t>
            </a:r>
          </a:p>
        </p:txBody>
      </p:sp>
      <p:sp>
        <p:nvSpPr>
          <p:cNvPr id="22" name="challenger-lane">
            <a:extLst xmlns:a="http://schemas.openxmlformats.org/drawingml/2006/main">
              <a:ext uri="{FF2B5EF4-FFF2-40B4-BE49-F238E27FC236}">
                <a16:creationId xmlns:a16="http://schemas.microsoft.com/office/drawing/2014/main" id="{49E1962D-3F9C-4C22-B315-F6F817A8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FFFC3"/>
                </a:solidFill>
              </a:defRPr>
            </a:pPr>
            <a:r>
              <a:rPr sz="1275" b="1">
                <a:solidFill>
                  <a:srgbClr val="9FFFC3"/>
                </a:solidFill>
              </a:rPr>
              <a:t>CALIBRATED LOCAL CHALLENGER</a:t>
            </a:r>
          </a:p>
        </p:txBody>
      </p:sp>
      <p:sp>
        <p:nvSpPr>
          <p:cNvPr id="23" name="challenger-0">
            <a:extLst xmlns:a="http://schemas.openxmlformats.org/drawingml/2006/main">
              <a:ext uri="{FF2B5EF4-FFF2-40B4-BE49-F238E27FC236}">
                <a16:creationId xmlns:a16="http://schemas.microsoft.com/office/drawing/2014/main" id="{A20DA0C2-3DD1-4679-A4B5-86AED795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14800"/>
            <a:ext cx="2266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A120E"/>
          </a:solidFill>
          <a:ln xmlns:a="http://schemas.openxmlformats.org/drawingml/2006/main" w="19050">
            <a:solidFill>
              <a:srgbClr val="173324"/>
            </a:solidFill>
            <a:prstDash val="solid"/>
          </a:ln>
        </p:spPr>
      </p:sp>
      <p:sp>
        <p:nvSpPr>
          <p:cNvPr id="24" name="challenger-title-0">
            <a:extLst xmlns:a="http://schemas.openxmlformats.org/drawingml/2006/main">
              <a:ext uri="{FF2B5EF4-FFF2-40B4-BE49-F238E27FC236}">
                <a16:creationId xmlns:a16="http://schemas.microsoft.com/office/drawing/2014/main" id="{D832A1FB-BEE5-47C6-9899-E3F4DEFA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76725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4F1DF"/>
                </a:solidFill>
              </a:defRPr>
            </a:pPr>
            <a:r>
              <a:rPr sz="1125" b="1">
                <a:solidFill>
                  <a:srgbClr val="F4F1DF"/>
                </a:solidFill>
              </a:rPr>
              <a:t>FUNCTIONGEMMA 270M</a:t>
            </a:r>
          </a:p>
        </p:txBody>
      </p:sp>
      <p:sp>
        <p:nvSpPr>
          <p:cNvPr id="25" name="challenger-sub-0">
            <a:extLst xmlns:a="http://schemas.openxmlformats.org/drawingml/2006/main">
              <a:ext uri="{FF2B5EF4-FFF2-40B4-BE49-F238E27FC236}">
                <a16:creationId xmlns:a16="http://schemas.microsoft.com/office/drawing/2014/main" id="{F2A2CBD1-161A-4D22-91CF-89A1147F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A8B8AD"/>
                </a:solidFill>
              </a:defRPr>
            </a:pPr>
            <a:r>
              <a:rPr sz="900" b="0">
                <a:solidFill>
                  <a:srgbClr val="A8B8AD"/>
                </a:solidFill>
              </a:rPr>
              <a:t>intent + 5 signals</a:t>
            </a:r>
          </a:p>
        </p:txBody>
      </p:sp>
      <p:sp>
        <p:nvSpPr>
          <p:cNvPr id="26" name="challenger-arrow-0">
            <a:extLst xmlns:a="http://schemas.openxmlformats.org/drawingml/2006/main">
              <a:ext uri="{FF2B5EF4-FFF2-40B4-BE49-F238E27FC236}">
                <a16:creationId xmlns:a16="http://schemas.microsoft.com/office/drawing/2014/main" id="{5F4165D8-5122-4965-8D76-9A9035AE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48175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FFFC3"/>
                </a:solidFill>
              </a:defRPr>
            </a:pPr>
            <a:r>
              <a:rPr sz="2250" b="1">
                <a:solidFill>
                  <a:srgbClr val="9FFFC3"/>
                </a:solidFill>
              </a:rPr>
              <a:t>→</a:t>
            </a:r>
          </a:p>
        </p:txBody>
      </p:sp>
      <p:sp>
        <p:nvSpPr>
          <p:cNvPr id="27" name="challenger-1">
            <a:extLst xmlns:a="http://schemas.openxmlformats.org/drawingml/2006/main">
              <a:ext uri="{FF2B5EF4-FFF2-40B4-BE49-F238E27FC236}">
                <a16:creationId xmlns:a16="http://schemas.microsoft.com/office/drawing/2014/main" id="{4BAFD46F-BB60-4966-BAE6-921780E4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14800"/>
            <a:ext cx="2266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A120E"/>
          </a:solidFill>
          <a:ln xmlns:a="http://schemas.openxmlformats.org/drawingml/2006/main" w="19050">
            <a:solidFill>
              <a:srgbClr val="173324"/>
            </a:solidFill>
            <a:prstDash val="solid"/>
          </a:ln>
        </p:spPr>
      </p:sp>
      <p:sp>
        <p:nvSpPr>
          <p:cNvPr id="28" name="challenger-title-1">
            <a:extLst xmlns:a="http://schemas.openxmlformats.org/drawingml/2006/main">
              <a:ext uri="{FF2B5EF4-FFF2-40B4-BE49-F238E27FC236}">
                <a16:creationId xmlns:a16="http://schemas.microsoft.com/office/drawing/2014/main" id="{9EF4BEF0-0575-4824-AC37-317BCCF9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76725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4F1DF"/>
                </a:solidFill>
              </a:defRPr>
            </a:pPr>
            <a:r>
              <a:rPr sz="1125" b="1">
                <a:solidFill>
                  <a:srgbClr val="F4F1DF"/>
                </a:solidFill>
              </a:rPr>
              <a:t>MATRIX REGRESSION</a:t>
            </a:r>
          </a:p>
        </p:txBody>
      </p:sp>
      <p:sp>
        <p:nvSpPr>
          <p:cNvPr id="29" name="challenger-sub-1">
            <a:extLst xmlns:a="http://schemas.openxmlformats.org/drawingml/2006/main">
              <a:ext uri="{FF2B5EF4-FFF2-40B4-BE49-F238E27FC236}">
                <a16:creationId xmlns:a16="http://schemas.microsoft.com/office/drawing/2014/main" id="{BB5255BC-0186-4A9B-8309-5269D82D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7625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A8B8AD"/>
                </a:solidFill>
              </a:defRPr>
            </a:pPr>
            <a:r>
              <a:rPr sz="900" b="0">
                <a:solidFill>
                  <a:srgbClr val="A8B8AD"/>
                </a:solidFill>
              </a:rPr>
              <a:t>predict local success</a:t>
            </a:r>
          </a:p>
        </p:txBody>
      </p:sp>
      <p:sp>
        <p:nvSpPr>
          <p:cNvPr id="30" name="challenger-arrow-1">
            <a:extLst xmlns:a="http://schemas.openxmlformats.org/drawingml/2006/main">
              <a:ext uri="{FF2B5EF4-FFF2-40B4-BE49-F238E27FC236}">
                <a16:creationId xmlns:a16="http://schemas.microsoft.com/office/drawing/2014/main" id="{FFC71C72-1EF1-45E1-95DC-29DA76CB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448175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FFFC3"/>
                </a:solidFill>
              </a:defRPr>
            </a:pPr>
            <a:r>
              <a:rPr sz="2250" b="1">
                <a:solidFill>
                  <a:srgbClr val="9FFFC3"/>
                </a:solidFill>
              </a:rPr>
              <a:t>→</a:t>
            </a:r>
          </a:p>
        </p:txBody>
      </p:sp>
      <p:sp>
        <p:nvSpPr>
          <p:cNvPr id="31" name="challenger-2">
            <a:extLst xmlns:a="http://schemas.openxmlformats.org/drawingml/2006/main">
              <a:ext uri="{FF2B5EF4-FFF2-40B4-BE49-F238E27FC236}">
                <a16:creationId xmlns:a16="http://schemas.microsoft.com/office/drawing/2014/main" id="{896FEE88-EC7C-4F0A-95E0-88122700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14800"/>
            <a:ext cx="2266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A120E"/>
          </a:solidFill>
          <a:ln xmlns:a="http://schemas.openxmlformats.org/drawingml/2006/main" w="19050">
            <a:solidFill>
              <a:srgbClr val="9FFFC3"/>
            </a:solidFill>
            <a:prstDash val="solid"/>
          </a:ln>
        </p:spPr>
      </p:sp>
      <p:sp>
        <p:nvSpPr>
          <p:cNvPr id="32" name="challenger-title-2">
            <a:extLst xmlns:a="http://schemas.openxmlformats.org/drawingml/2006/main">
              <a:ext uri="{FF2B5EF4-FFF2-40B4-BE49-F238E27FC236}">
                <a16:creationId xmlns:a16="http://schemas.microsoft.com/office/drawing/2014/main" id="{266160E4-E06D-41CB-BDE8-69FF1FE2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76725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9FFFC3"/>
                </a:solidFill>
              </a:defRPr>
            </a:pPr>
            <a:r>
              <a:rPr sz="1125" b="1">
                <a:solidFill>
                  <a:srgbClr val="9FFFC3"/>
                </a:solidFill>
              </a:rPr>
              <a:t>GEMMA E2B</a:t>
            </a:r>
          </a:p>
        </p:txBody>
      </p:sp>
      <p:sp>
        <p:nvSpPr>
          <p:cNvPr id="33" name="challenger-sub-2">
            <a:extLst xmlns:a="http://schemas.openxmlformats.org/drawingml/2006/main">
              <a:ext uri="{FF2B5EF4-FFF2-40B4-BE49-F238E27FC236}">
                <a16:creationId xmlns:a16="http://schemas.microsoft.com/office/drawing/2014/main" id="{5D9F1632-DD18-4BAD-AD04-1DDBF36E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625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A8B8AD"/>
                </a:solidFill>
              </a:defRPr>
            </a:pPr>
            <a:r>
              <a:rPr sz="900" b="0">
                <a:solidFill>
                  <a:srgbClr val="A8B8AD"/>
                </a:solidFill>
              </a:rPr>
              <a:t>selective zero-token answer</a:t>
            </a:r>
          </a:p>
        </p:txBody>
      </p:sp>
      <p:sp>
        <p:nvSpPr>
          <p:cNvPr id="34" name="challenger-arrow-2">
            <a:extLst xmlns:a="http://schemas.openxmlformats.org/drawingml/2006/main">
              <a:ext uri="{FF2B5EF4-FFF2-40B4-BE49-F238E27FC236}">
                <a16:creationId xmlns:a16="http://schemas.microsoft.com/office/drawing/2014/main" id="{E474C51A-C039-431F-8D8B-111E3E5C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448175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FFFC3"/>
                </a:solidFill>
              </a:defRPr>
            </a:pPr>
            <a:r>
              <a:rPr sz="2250" b="1">
                <a:solidFill>
                  <a:srgbClr val="9FFFC3"/>
                </a:solidFill>
              </a:rPr>
              <a:t>→</a:t>
            </a:r>
          </a:p>
        </p:txBody>
      </p:sp>
      <p:sp>
        <p:nvSpPr>
          <p:cNvPr id="35" name="challenger-3">
            <a:extLst xmlns:a="http://schemas.openxmlformats.org/drawingml/2006/main">
              <a:ext uri="{FF2B5EF4-FFF2-40B4-BE49-F238E27FC236}">
                <a16:creationId xmlns:a16="http://schemas.microsoft.com/office/drawing/2014/main" id="{76CF232C-DF18-4129-96D2-991C00AE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14800"/>
            <a:ext cx="2266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A120E"/>
          </a:solidFill>
          <a:ln xmlns:a="http://schemas.openxmlformats.org/drawingml/2006/main" w="19050">
            <a:solidFill>
              <a:srgbClr val="173324"/>
            </a:solidFill>
            <a:prstDash val="solid"/>
          </a:ln>
        </p:spPr>
      </p:sp>
      <p:sp>
        <p:nvSpPr>
          <p:cNvPr id="36" name="challenger-title-3">
            <a:extLst xmlns:a="http://schemas.openxmlformats.org/drawingml/2006/main">
              <a:ext uri="{FF2B5EF4-FFF2-40B4-BE49-F238E27FC236}">
                <a16:creationId xmlns:a16="http://schemas.microsoft.com/office/drawing/2014/main" id="{ED39E628-51FB-428E-BFEE-8FC30148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76725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4F1DF"/>
                </a:solidFill>
              </a:defRPr>
            </a:pPr>
            <a:r>
              <a:rPr sz="1125" b="1">
                <a:solidFill>
                  <a:srgbClr val="F4F1DF"/>
                </a:solidFill>
              </a:rPr>
              <a:t>FIREWORKS</a:t>
            </a:r>
          </a:p>
        </p:txBody>
      </p:sp>
      <p:sp>
        <p:nvSpPr>
          <p:cNvPr id="37" name="challenger-sub-3">
            <a:extLst xmlns:a="http://schemas.openxmlformats.org/drawingml/2006/main">
              <a:ext uri="{FF2B5EF4-FFF2-40B4-BE49-F238E27FC236}">
                <a16:creationId xmlns:a16="http://schemas.microsoft.com/office/drawing/2014/main" id="{DB4892E7-EC2D-4D9B-A5C3-A8CEE036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625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A8B8AD"/>
                </a:solidFill>
              </a:defRPr>
            </a:pPr>
            <a:r>
              <a:rPr sz="900" b="0">
                <a:solidFill>
                  <a:srgbClr val="A8B8AD"/>
                </a:solidFill>
              </a:rPr>
              <a:t>safe fallback</a:t>
            </a:r>
          </a:p>
        </p:txBody>
      </p:sp>
      <p:sp>
        <p:nvSpPr>
          <p:cNvPr id="38" name="architecture-note">
            <a:extLst xmlns:a="http://schemas.openxmlformats.org/drawingml/2006/main">
              <a:ext uri="{FF2B5EF4-FFF2-40B4-BE49-F238E27FC236}">
                <a16:creationId xmlns:a16="http://schemas.microsoft.com/office/drawing/2014/main" id="{10C442C6-7F87-4327-ADEE-27B0328C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642B"/>
                </a:solidFill>
              </a:defRPr>
            </a:pPr>
            <a:r>
              <a:rPr sz="1275" b="1">
                <a:solidFill>
                  <a:srgbClr val="FF642B"/>
                </a:solidFill>
              </a:rPr>
              <a:t>The engine—not the model—owns JSON structure. Raw-prompt ablation cut Fireworks input tokens by 51.9% with byte-identical Kimi answers.</a:t>
            </a:r>
          </a:p>
        </p:txBody>
      </p:sp>
      <p:sp>
        <p:nvSpPr>
          <p:cNvPr id="39" name="footer-Source: ">
            <a:extLst xmlns:a="http://schemas.openxmlformats.org/drawingml/2006/main">
              <a:ext uri="{FF2B5EF4-FFF2-40B4-BE49-F238E27FC236}">
                <a16:creationId xmlns:a16="http://schemas.microsoft.com/office/drawing/2014/main" id="{B5D9A3B1-3047-4D70-93DB-EA78EC19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87060"/>
                </a:solidFill>
              </a:defRPr>
            </a:pPr>
            <a:r>
              <a:rPr sz="825" b="0">
                <a:solidFill>
                  <a:srgbClr val="587060"/>
                </a:solidFill>
              </a:rPr>
              <a:t>Source: docs/ARCHITECTURE.md; reports/public/raw-prompt-answer-contract-ablation.md</a:t>
            </a:r>
          </a:p>
        </p:txBody>
      </p:sp>
    </p:spTree>
    <p:extLst>
      <p:ext uri="{BB962C8B-B14F-4D97-AF65-F5344CB8AC3E}">
        <p14:creationId xmlns:p14="http://schemas.microsoft.com/office/powerpoint/2010/main" val="972188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8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71B0EB-ED5E-4972-98D8-4C3B1C43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42B"/>
          </a:solidFill>
          <a:ln xmlns:a="http://schemas.openxmlformats.org/drawingml/2006/main" w="0">
            <a:noFill/>
          </a:ln>
        </p:spPr>
      </p:sp>
      <p:sp>
        <p:nvSpPr>
          <p:cNvPr id="2" name="eyebrow-4">
            <a:extLst xmlns:a="http://schemas.openxmlformats.org/drawingml/2006/main">
              <a:ext uri="{FF2B5EF4-FFF2-40B4-BE49-F238E27FC236}">
                <a16:creationId xmlns:a16="http://schemas.microsoft.com/office/drawing/2014/main" id="{65BC19D7-0DD2-4064-A48C-5DD91E0C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642B"/>
                </a:solidFill>
              </a:defRPr>
            </a:pPr>
            <a:r>
              <a:rPr sz="1200" b="1">
                <a:solidFill>
                  <a:srgbClr val="FF642B"/>
                </a:solidFill>
              </a:rPr>
              <a:t>PROOFROUTE // AMD ACT II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5A174F51-5807-43D8-ACF4-0CDBF01B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857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9FFFC3"/>
                </a:solidFill>
              </a:defRPr>
            </a:pPr>
            <a:r>
              <a:rPr sz="1125" b="1">
                <a:solidFill>
                  <a:srgbClr val="9FFFC3"/>
                </a:solidFill>
              </a:rPr>
              <a:t>04 / 06</a:t>
            </a:r>
          </a:p>
        </p:txBody>
      </p:sp>
      <p:sp>
        <p:nvSpPr>
          <p:cNvPr id="4" name="title-4">
            <a:extLst xmlns:a="http://schemas.openxmlformats.org/drawingml/2006/main">
              <a:ext uri="{FF2B5EF4-FFF2-40B4-BE49-F238E27FC236}">
                <a16:creationId xmlns:a16="http://schemas.microsoft.com/office/drawing/2014/main" id="{899F83A5-CFB2-4169-ABEE-B61A8FD5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1DF"/>
                </a:solidFill>
              </a:defRPr>
            </a:pPr>
            <a:r>
              <a:rPr sz="2925" b="1">
                <a:solidFill>
                  <a:srgbClr val="F4F1DF"/>
                </a:solidFill>
              </a:rPr>
              <a:t>Deterministic answers require proof, not confidence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B3DEE7-16F4-4EF7-A783-0F856D96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324"/>
          </a:solidFill>
          <a:ln xmlns:a="http://schemas.openxmlformats.org/drawingml/2006/main" w="0">
            <a:noFill/>
          </a:ln>
        </p:spPr>
      </p:sp>
      <p:sp>
        <p:nvSpPr>
          <p:cNvPr id="6" name="proof-flow">
            <a:extLst xmlns:a="http://schemas.openxmlformats.org/drawingml/2006/main">
              <a:ext uri="{FF2B5EF4-FFF2-40B4-BE49-F238E27FC236}">
                <a16:creationId xmlns:a16="http://schemas.microsoft.com/office/drawing/2014/main" id="{81C3B0EA-B624-46BA-8927-D5C2B10F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52600"/>
            <a:ext cx="65722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A120E"/>
          </a:solidFill>
          <a:ln xmlns:a="http://schemas.openxmlformats.org/drawingml/2006/main" w="19050">
            <a:solidFill>
              <a:srgbClr val="173324"/>
            </a:solidFill>
            <a:prstDash val="solid"/>
          </a:ln>
        </p:spPr>
      </p:sp>
      <p:sp>
        <p:nvSpPr>
          <p:cNvPr id="7" name="step-num-0">
            <a:extLst xmlns:a="http://schemas.openxmlformats.org/drawingml/2006/main">
              <a:ext uri="{FF2B5EF4-FFF2-40B4-BE49-F238E27FC236}">
                <a16:creationId xmlns:a16="http://schemas.microsoft.com/office/drawing/2014/main" id="{D8DAA332-FEB9-4D8C-B148-A73E51F1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642B"/>
                </a:solidFill>
              </a:defRPr>
            </a:pPr>
            <a:r>
              <a:rPr sz="1650" b="1">
                <a:solidFill>
                  <a:srgbClr val="FF642B"/>
                </a:solidFill>
              </a:rPr>
              <a:t>01</a:t>
            </a:r>
          </a:p>
        </p:txBody>
      </p:sp>
      <p:sp>
        <p:nvSpPr>
          <p:cNvPr id="8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E1FD04BA-0915-48F2-8529-F5FB6F7A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812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4F1DF"/>
                </a:solidFill>
              </a:defRPr>
            </a:pPr>
            <a:r>
              <a:rPr sz="1425" b="1">
                <a:solidFill>
                  <a:srgbClr val="F4F1DF"/>
                </a:solidFill>
              </a:rPr>
              <a:t>Parse a registered contract</a:t>
            </a:r>
          </a:p>
        </p:txBody>
      </p:sp>
      <p:sp>
        <p:nvSpPr>
          <p:cNvPr id="9" name="step-sub-0">
            <a:extLst xmlns:a="http://schemas.openxmlformats.org/drawingml/2006/main">
              <a:ext uri="{FF2B5EF4-FFF2-40B4-BE49-F238E27FC236}">
                <a16:creationId xmlns:a16="http://schemas.microsoft.com/office/drawing/2014/main" id="{DAB2A724-508C-407D-855D-9294829E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860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8B8AD"/>
                </a:solidFill>
              </a:defRPr>
            </a:pPr>
            <a:r>
              <a:rPr sz="1050" b="0">
                <a:solidFill>
                  <a:srgbClr val="A8B8AD"/>
                </a:solidFill>
              </a:rPr>
              <a:t>bounded math, logic, extraction or code</a:t>
            </a:r>
          </a:p>
        </p:txBody>
      </p:sp>
      <p:sp>
        <p:nvSpPr>
          <p:cNvPr id="10" name="step-num-1">
            <a:extLst xmlns:a="http://schemas.openxmlformats.org/drawingml/2006/main">
              <a:ext uri="{FF2B5EF4-FFF2-40B4-BE49-F238E27FC236}">
                <a16:creationId xmlns:a16="http://schemas.microsoft.com/office/drawing/2014/main" id="{66FC03BE-36A7-43A5-B9E4-351A6F7B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642B"/>
                </a:solidFill>
              </a:defRPr>
            </a:pPr>
            <a:r>
              <a:rPr sz="1650" b="1">
                <a:solidFill>
                  <a:srgbClr val="FF642B"/>
                </a:solidFill>
              </a:rPr>
              <a:t>02</a:t>
            </a:r>
          </a:p>
        </p:txBody>
      </p:sp>
      <p:sp>
        <p:nvSpPr>
          <p:cNvPr id="11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C9CF7371-F778-4603-A960-8A68DC5C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813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4F1DF"/>
                </a:solidFill>
              </a:defRPr>
            </a:pPr>
            <a:r>
              <a:rPr sz="1425" b="1">
                <a:solidFill>
                  <a:srgbClr val="F4F1DF"/>
                </a:solidFill>
              </a:rPr>
              <a:t>Recompute the candidate</a:t>
            </a:r>
          </a:p>
        </p:txBody>
      </p:sp>
      <p:sp>
        <p:nvSpPr>
          <p:cNvPr id="12" name="step-sub-1">
            <a:extLst xmlns:a="http://schemas.openxmlformats.org/drawingml/2006/main">
              <a:ext uri="{FF2B5EF4-FFF2-40B4-BE49-F238E27FC236}">
                <a16:creationId xmlns:a16="http://schemas.microsoft.com/office/drawing/2014/main" id="{126DFC07-2698-4376-9287-841F5339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861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8B8AD"/>
                </a:solidFill>
              </a:defRPr>
            </a:pPr>
            <a:r>
              <a:rPr sz="1050" b="0">
                <a:solidFill>
                  <a:srgbClr val="A8B8AD"/>
                </a:solidFill>
              </a:rPr>
              <a:t>safe AST, graph closure or constrained execution</a:t>
            </a:r>
          </a:p>
        </p:txBody>
      </p:sp>
      <p:sp>
        <p:nvSpPr>
          <p:cNvPr id="13" name="step-num-2">
            <a:extLst xmlns:a="http://schemas.openxmlformats.org/drawingml/2006/main">
              <a:ext uri="{FF2B5EF4-FFF2-40B4-BE49-F238E27FC236}">
                <a16:creationId xmlns:a16="http://schemas.microsoft.com/office/drawing/2014/main" id="{E7473FE1-86BD-486A-8CB9-1D8A80F2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642B"/>
                </a:solidFill>
              </a:defRPr>
            </a:pPr>
            <a:r>
              <a:rPr sz="1650" b="1">
                <a:solidFill>
                  <a:srgbClr val="FF642B"/>
                </a:solidFill>
              </a:rPr>
              <a:t>03</a:t>
            </a:r>
          </a:p>
        </p:txBody>
      </p:sp>
      <p:sp>
        <p:nvSpPr>
          <p:cNvPr id="14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4AF71C75-9926-475E-83AF-676747F8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814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4F1DF"/>
                </a:solidFill>
              </a:defRPr>
            </a:pPr>
            <a:r>
              <a:rPr sz="1425" b="1">
                <a:solidFill>
                  <a:srgbClr val="F4F1DF"/>
                </a:solidFill>
              </a:rPr>
              <a:t>Require one unique result</a:t>
            </a:r>
          </a:p>
        </p:txBody>
      </p:sp>
      <p:sp>
        <p:nvSpPr>
          <p:cNvPr id="15" name="step-sub-2">
            <a:extLst xmlns:a="http://schemas.openxmlformats.org/drawingml/2006/main">
              <a:ext uri="{FF2B5EF4-FFF2-40B4-BE49-F238E27FC236}">
                <a16:creationId xmlns:a16="http://schemas.microsoft.com/office/drawing/2014/main" id="{E3B7EC00-1817-40C4-89B2-8EDD2449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862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8B8AD"/>
                </a:solidFill>
              </a:defRPr>
            </a:pPr>
            <a:r>
              <a:rPr sz="1050" b="0">
                <a:solidFill>
                  <a:srgbClr val="A8B8AD"/>
                </a:solidFill>
              </a:rPr>
              <a:t>ambiguity, mismatch or unsupported input refuses</a:t>
            </a:r>
          </a:p>
        </p:txBody>
      </p:sp>
      <p:sp>
        <p:nvSpPr>
          <p:cNvPr id="16" name="step-num-3">
            <a:extLst xmlns:a="http://schemas.openxmlformats.org/drawingml/2006/main">
              <a:ext uri="{FF2B5EF4-FFF2-40B4-BE49-F238E27FC236}">
                <a16:creationId xmlns:a16="http://schemas.microsoft.com/office/drawing/2014/main" id="{C5E46227-784F-44B7-A87C-7AE77F17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642B"/>
                </a:solidFill>
              </a:defRPr>
            </a:pPr>
            <a:r>
              <a:rPr sz="1650" b="1">
                <a:solidFill>
                  <a:srgbClr val="FF642B"/>
                </a:solidFill>
              </a:rPr>
              <a:t>04</a:t>
            </a:r>
          </a:p>
        </p:txBody>
      </p:sp>
      <p:sp>
        <p:nvSpPr>
          <p:cNvPr id="17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6F2F58C3-4A12-46E9-804E-0C5C0648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815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4F1DF"/>
                </a:solidFill>
              </a:defRPr>
            </a:pPr>
            <a:r>
              <a:rPr sz="1425" b="1">
                <a:solidFill>
                  <a:srgbClr val="F4F1DF"/>
                </a:solidFill>
              </a:rPr>
              <a:t>Apply the answer contract</a:t>
            </a:r>
          </a:p>
        </p:txBody>
      </p:sp>
      <p:sp>
        <p:nvSpPr>
          <p:cNvPr id="18" name="step-sub-3">
            <a:extLst xmlns:a="http://schemas.openxmlformats.org/drawingml/2006/main">
              <a:ext uri="{FF2B5EF4-FFF2-40B4-BE49-F238E27FC236}">
                <a16:creationId xmlns:a16="http://schemas.microsoft.com/office/drawing/2014/main" id="{51525ADF-4FC9-4F72-85CA-6F90D6FA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8B8AD"/>
                </a:solidFill>
              </a:defRPr>
            </a:pPr>
            <a:r>
              <a:rPr sz="1050" b="0">
                <a:solidFill>
                  <a:srgbClr val="A8B8AD"/>
                </a:solidFill>
              </a:rPr>
              <a:t>release zero Fireworks tokens or fall through</a:t>
            </a:r>
          </a:p>
        </p:txBody>
      </p:sp>
      <p:sp>
        <p:nvSpPr>
          <p:cNvPr id="19" name="proof-hit-box">
            <a:extLst xmlns:a="http://schemas.openxmlformats.org/drawingml/2006/main">
              <a:ext uri="{FF2B5EF4-FFF2-40B4-BE49-F238E27FC236}">
                <a16:creationId xmlns:a16="http://schemas.microsoft.com/office/drawing/2014/main" id="{C2D95024-846C-49FA-9D87-C711342B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47850"/>
            <a:ext cx="3429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1B15"/>
          </a:solidFill>
          <a:ln xmlns:a="http://schemas.openxmlformats.org/drawingml/2006/main" w="19050">
            <a:solidFill>
              <a:srgbClr val="173324"/>
            </a:solidFill>
            <a:prstDash val="solid"/>
          </a:ln>
        </p:spPr>
      </p:sp>
      <p:sp>
        <p:nvSpPr>
          <p:cNvPr id="20" name="proof-hit-value">
            <a:extLst xmlns:a="http://schemas.openxmlformats.org/drawingml/2006/main">
              <a:ext uri="{FF2B5EF4-FFF2-40B4-BE49-F238E27FC236}">
                <a16:creationId xmlns:a16="http://schemas.microsoft.com/office/drawing/2014/main" id="{C587BCD9-6E27-420E-9DBF-61CCA932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193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9FFFC3"/>
                </a:solidFill>
              </a:defRPr>
            </a:pPr>
            <a:r>
              <a:rPr sz="2850" b="1">
                <a:solidFill>
                  <a:srgbClr val="9FFFC3"/>
                </a:solidFill>
              </a:rPr>
              <a:t>2 / 2</a:t>
            </a:r>
          </a:p>
        </p:txBody>
      </p:sp>
      <p:sp>
        <p:nvSpPr>
          <p:cNvPr id="21" name="proof-hit-label">
            <a:extLst xmlns:a="http://schemas.openxmlformats.org/drawingml/2006/main">
              <a:ext uri="{FF2B5EF4-FFF2-40B4-BE49-F238E27FC236}">
                <a16:creationId xmlns:a16="http://schemas.microsoft.com/office/drawing/2014/main" id="{55EECDD4-9B0F-4716-907A-107A9253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289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B8AD"/>
                </a:solidFill>
              </a:defRPr>
            </a:pPr>
            <a:r>
              <a:rPr sz="1200" b="0">
                <a:solidFill>
                  <a:srgbClr val="A8B8AD"/>
                </a:solidFill>
              </a:rPr>
              <a:t>known correct ordering candidates recovered</a:t>
            </a:r>
          </a:p>
        </p:txBody>
      </p:sp>
      <p:sp>
        <p:nvSpPr>
          <p:cNvPr id="22" name="proof-reject-box">
            <a:extLst xmlns:a="http://schemas.openxmlformats.org/drawingml/2006/main">
              <a:ext uri="{FF2B5EF4-FFF2-40B4-BE49-F238E27FC236}">
                <a16:creationId xmlns:a16="http://schemas.microsoft.com/office/drawing/2014/main" id="{0667BE97-D016-4306-BA34-14A63B14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52800"/>
            <a:ext cx="3429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1B15"/>
          </a:solidFill>
          <a:ln xmlns:a="http://schemas.openxmlformats.org/drawingml/2006/main" w="19050">
            <a:solidFill>
              <a:srgbClr val="173324"/>
            </a:solidFill>
            <a:prstDash val="solid"/>
          </a:ln>
        </p:spPr>
      </p:sp>
      <p:sp>
        <p:nvSpPr>
          <p:cNvPr id="23" name="proof-reject-value">
            <a:extLst xmlns:a="http://schemas.openxmlformats.org/drawingml/2006/main">
              <a:ext uri="{FF2B5EF4-FFF2-40B4-BE49-F238E27FC236}">
                <a16:creationId xmlns:a16="http://schemas.microsoft.com/office/drawing/2014/main" id="{96AC36E4-BF15-40C3-8262-B81BBD56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642B"/>
                </a:solidFill>
              </a:defRPr>
            </a:pPr>
            <a:r>
              <a:rPr sz="2850" b="1">
                <a:solidFill>
                  <a:srgbClr val="FF642B"/>
                </a:solidFill>
              </a:rPr>
              <a:t>5 / 5</a:t>
            </a:r>
          </a:p>
        </p:txBody>
      </p:sp>
      <p:sp>
        <p:nvSpPr>
          <p:cNvPr id="24" name="proof-reject-label">
            <a:extLst xmlns:a="http://schemas.openxmlformats.org/drawingml/2006/main">
              <a:ext uri="{FF2B5EF4-FFF2-40B4-BE49-F238E27FC236}">
                <a16:creationId xmlns:a16="http://schemas.microsoft.com/office/drawing/2014/main" id="{A42A1F63-F87F-4348-A4F0-8A67F58B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338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B8AD"/>
                </a:solidFill>
              </a:defRPr>
            </a:pPr>
            <a:r>
              <a:rPr sz="1200" b="0">
                <a:solidFill>
                  <a:srgbClr val="A8B8AD"/>
                </a:solidFill>
              </a:rPr>
              <a:t>incorrect deterministic candidates refused</a:t>
            </a:r>
          </a:p>
        </p:txBody>
      </p:sp>
      <p:sp>
        <p:nvSpPr>
          <p:cNvPr id="25" name="proof-gate">
            <a:extLst xmlns:a="http://schemas.openxmlformats.org/drawingml/2006/main">
              <a:ext uri="{FF2B5EF4-FFF2-40B4-BE49-F238E27FC236}">
                <a16:creationId xmlns:a16="http://schemas.microsoft.com/office/drawing/2014/main" id="{2242F798-C85C-4BCB-9E82-022798F7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2920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1DF"/>
                </a:solidFill>
              </a:defRPr>
            </a:pPr>
            <a:r>
              <a:rPr sz="1275" b="1">
                <a:solidFill>
                  <a:srgbClr val="F4F1DF"/>
                </a:solidFill>
              </a:rPr>
              <a:t>Independent gate: 180 releases • 100% precision • 0 false positives</a:t>
            </a:r>
          </a:p>
        </p:txBody>
      </p:sp>
      <p:sp>
        <p:nvSpPr>
          <p:cNvPr id="26" name="footer-Source: ">
            <a:extLst xmlns:a="http://schemas.openxmlformats.org/drawingml/2006/main">
              <a:ext uri="{FF2B5EF4-FFF2-40B4-BE49-F238E27FC236}">
                <a16:creationId xmlns:a16="http://schemas.microsoft.com/office/drawing/2014/main" id="{36525F85-A416-4090-BC91-1EE18EC3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87060"/>
                </a:solidFill>
              </a:defRPr>
            </a:pPr>
            <a:r>
              <a:rPr sz="825" b="0">
                <a:solidFill>
                  <a:srgbClr val="587060"/>
                </a:solidFill>
              </a:rPr>
              <a:t>Source: reports/generated/math-logic-proof-coverage.json; 260-case independent proof gate.</a:t>
            </a:r>
          </a:p>
        </p:txBody>
      </p:sp>
    </p:spTree>
    <p:extLst>
      <p:ext uri="{BB962C8B-B14F-4D97-AF65-F5344CB8AC3E}">
        <p14:creationId xmlns:p14="http://schemas.microsoft.com/office/powerpoint/2010/main" val="8950568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8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02985E-E249-41D9-9495-C1DBA4B4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42B"/>
          </a:solidFill>
          <a:ln xmlns:a="http://schemas.openxmlformats.org/drawingml/2006/main" w="0">
            <a:noFill/>
          </a:ln>
        </p:spPr>
      </p:sp>
      <p:sp>
        <p:nvSpPr>
          <p:cNvPr id="2" name="eyebrow-5">
            <a:extLst xmlns:a="http://schemas.openxmlformats.org/drawingml/2006/main">
              <a:ext uri="{FF2B5EF4-FFF2-40B4-BE49-F238E27FC236}">
                <a16:creationId xmlns:a16="http://schemas.microsoft.com/office/drawing/2014/main" id="{41777926-233E-40C8-A9A9-DA4BBD6B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642B"/>
                </a:solidFill>
              </a:defRPr>
            </a:pPr>
            <a:r>
              <a:rPr sz="1200" b="1">
                <a:solidFill>
                  <a:srgbClr val="FF642B"/>
                </a:solidFill>
              </a:rPr>
              <a:t>PROOFROUTE // AMD ACT II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82C85343-8486-4F02-86C5-FDEC0043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857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9FFFC3"/>
                </a:solidFill>
              </a:defRPr>
            </a:pPr>
            <a:r>
              <a:rPr sz="1125" b="1">
                <a:solidFill>
                  <a:srgbClr val="9FFFC3"/>
                </a:solidFill>
              </a:rPr>
              <a:t>05 / 06</a:t>
            </a:r>
          </a:p>
        </p:txBody>
      </p:sp>
      <p:sp>
        <p:nvSpPr>
          <p:cNvPr id="4" name="title-5">
            <a:extLst xmlns:a="http://schemas.openxmlformats.org/drawingml/2006/main">
              <a:ext uri="{FF2B5EF4-FFF2-40B4-BE49-F238E27FC236}">
                <a16:creationId xmlns:a16="http://schemas.microsoft.com/office/drawing/2014/main" id="{DEFDDD8C-07B4-4C9D-8820-CFAC76BF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1DF"/>
                </a:solidFill>
              </a:defRPr>
            </a:pPr>
            <a:r>
              <a:rPr sz="2925" b="1">
                <a:solidFill>
                  <a:srgbClr val="F4F1DF"/>
                </a:solidFill>
              </a:rPr>
              <a:t>AMD training turns 4,400 tasks into calibrated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4B1C9-A900-4B66-A8DB-1FB74B31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324"/>
          </a:solidFill>
          <a:ln xmlns:a="http://schemas.openxmlformats.org/drawingml/2006/main" w="0">
            <a:noFill/>
          </a:ln>
        </p:spPr>
      </p:sp>
      <p:sp>
        <p:nvSpPr>
          <p:cNvPr id="6" name="training-copy">
            <a:extLst xmlns:a="http://schemas.openxmlformats.org/drawingml/2006/main">
              <a:ext uri="{FF2B5EF4-FFF2-40B4-BE49-F238E27FC236}">
                <a16:creationId xmlns:a16="http://schemas.microsoft.com/office/drawing/2014/main" id="{2480FF6D-4E48-4D4F-8683-F2C70E61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A8B8AD"/>
                </a:solidFill>
              </a:defRPr>
            </a:pPr>
            <a:r>
              <a:rPr sz="1500" b="0">
                <a:solidFill>
                  <a:srgbClr val="A8B8AD"/>
                </a:solidFill>
              </a:rPr>
              <a:t>FunctionGemma scores the task. Gemma E2B answers. Mechanical proofs and independent judges label the outcome.</a:t>
            </a:r>
          </a:p>
        </p:txBody>
      </p:sp>
      <p:sp>
        <p:nvSpPr>
          <p:cNvPr id="7" name="train-0">
            <a:extLst xmlns:a="http://schemas.openxmlformats.org/drawingml/2006/main">
              <a:ext uri="{FF2B5EF4-FFF2-40B4-BE49-F238E27FC236}">
                <a16:creationId xmlns:a16="http://schemas.microsoft.com/office/drawing/2014/main" id="{DDF02687-751B-4DA7-B93F-B53A447F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203835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01B15"/>
          </a:solidFill>
          <a:ln xmlns:a="http://schemas.openxmlformats.org/drawingml/2006/main" w="19050">
            <a:solidFill>
              <a:srgbClr val="173324"/>
            </a:solidFill>
            <a:prstDash val="solid"/>
          </a:ln>
        </p:spPr>
      </p:sp>
      <p:sp>
        <p:nvSpPr>
          <p:cNvPr id="8" name="train-title-0">
            <a:extLst xmlns:a="http://schemas.openxmlformats.org/drawingml/2006/main">
              <a:ext uri="{FF2B5EF4-FFF2-40B4-BE49-F238E27FC236}">
                <a16:creationId xmlns:a16="http://schemas.microsoft.com/office/drawing/2014/main" id="{95843566-8E65-4750-9E57-710F30CB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642B"/>
                </a:solidFill>
              </a:defRPr>
            </a:pPr>
            <a:r>
              <a:rPr sz="1200" b="1">
                <a:solidFill>
                  <a:srgbClr val="FF642B"/>
                </a:solidFill>
              </a:rPr>
              <a:t>DATASET</a:t>
            </a:r>
          </a:p>
        </p:txBody>
      </p:sp>
      <p:sp>
        <p:nvSpPr>
          <p:cNvPr id="9" name="train-main-0">
            <a:extLst xmlns:a="http://schemas.openxmlformats.org/drawingml/2006/main">
              <a:ext uri="{FF2B5EF4-FFF2-40B4-BE49-F238E27FC236}">
                <a16:creationId xmlns:a16="http://schemas.microsoft.com/office/drawing/2014/main" id="{6C6477CA-AE8B-4F5E-880B-4A0E99D8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861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4F1DF"/>
                </a:solidFill>
              </a:defRPr>
            </a:pPr>
            <a:r>
              <a:rPr sz="1500" b="1">
                <a:solidFill>
                  <a:srgbClr val="F4F1DF"/>
                </a:solidFill>
              </a:rPr>
              <a:t>4,400 tasks</a:t>
            </a:r>
          </a:p>
        </p:txBody>
      </p:sp>
      <p:sp>
        <p:nvSpPr>
          <p:cNvPr id="10" name="train-sub-0">
            <a:extLst xmlns:a="http://schemas.openxmlformats.org/drawingml/2006/main">
              <a:ext uri="{FF2B5EF4-FFF2-40B4-BE49-F238E27FC236}">
                <a16:creationId xmlns:a16="http://schemas.microsoft.com/office/drawing/2014/main" id="{D85EF600-99E2-4734-A587-DAEF9DEE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719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A8B8AD"/>
                </a:solidFill>
              </a:defRPr>
            </a:pPr>
            <a:r>
              <a:rPr sz="1050" b="0">
                <a:solidFill>
                  <a:srgbClr val="A8B8AD"/>
                </a:solidFill>
              </a:rPr>
              <a:t>8 balanced categories</a:t>
            </a:r>
          </a:p>
        </p:txBody>
      </p:sp>
      <p:sp>
        <p:nvSpPr>
          <p:cNvPr id="11" name="train-1">
            <a:extLst xmlns:a="http://schemas.openxmlformats.org/drawingml/2006/main">
              <a:ext uri="{FF2B5EF4-FFF2-40B4-BE49-F238E27FC236}">
                <a16:creationId xmlns:a16="http://schemas.microsoft.com/office/drawing/2014/main" id="{BD55387B-ED10-43B2-87BB-A8664D00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71750"/>
            <a:ext cx="203835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01B15"/>
          </a:solidFill>
          <a:ln xmlns:a="http://schemas.openxmlformats.org/drawingml/2006/main" w="19050">
            <a:solidFill>
              <a:srgbClr val="9FFFC3"/>
            </a:solidFill>
            <a:prstDash val="solid"/>
          </a:ln>
        </p:spPr>
      </p:sp>
      <p:sp>
        <p:nvSpPr>
          <p:cNvPr id="12" name="train-title-1">
            <a:extLst xmlns:a="http://schemas.openxmlformats.org/drawingml/2006/main">
              <a:ext uri="{FF2B5EF4-FFF2-40B4-BE49-F238E27FC236}">
                <a16:creationId xmlns:a16="http://schemas.microsoft.com/office/drawing/2014/main" id="{D27C5879-D582-4840-8E49-5DB0CA5C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81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9FFFC3"/>
                </a:solidFill>
              </a:defRPr>
            </a:pPr>
            <a:r>
              <a:rPr sz="1200" b="1">
                <a:solidFill>
                  <a:srgbClr val="9FFFC3"/>
                </a:solidFill>
              </a:rPr>
              <a:t>FUNCTIONGEMMA</a:t>
            </a:r>
          </a:p>
        </p:txBody>
      </p:sp>
      <p:sp>
        <p:nvSpPr>
          <p:cNvPr id="13" name="train-main-1">
            <a:extLst xmlns:a="http://schemas.openxmlformats.org/drawingml/2006/main">
              <a:ext uri="{FF2B5EF4-FFF2-40B4-BE49-F238E27FC236}">
                <a16:creationId xmlns:a16="http://schemas.microsoft.com/office/drawing/2014/main" id="{A82A9FD0-9D0F-4E22-A44D-C5E9D94B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861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4F1DF"/>
                </a:solidFill>
              </a:defRPr>
            </a:pPr>
            <a:r>
              <a:rPr sz="1500" b="1">
                <a:solidFill>
                  <a:srgbClr val="F4F1DF"/>
                </a:solidFill>
              </a:rPr>
              <a:t>270M parameters</a:t>
            </a:r>
          </a:p>
        </p:txBody>
      </p:sp>
      <p:sp>
        <p:nvSpPr>
          <p:cNvPr id="14" name="train-sub-1">
            <a:extLst xmlns:a="http://schemas.openxmlformats.org/drawingml/2006/main">
              <a:ext uri="{FF2B5EF4-FFF2-40B4-BE49-F238E27FC236}">
                <a16:creationId xmlns:a16="http://schemas.microsoft.com/office/drawing/2014/main" id="{0624580F-DD75-4584-8519-6B3CC931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719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A8B8AD"/>
                </a:solidFill>
              </a:defRPr>
            </a:pPr>
            <a:r>
              <a:rPr sz="1050" b="0">
                <a:solidFill>
                  <a:srgbClr val="A8B8AD"/>
                </a:solidFill>
              </a:rPr>
              <a:t>intent + 5 scores</a:t>
            </a:r>
          </a:p>
        </p:txBody>
      </p:sp>
      <p:sp>
        <p:nvSpPr>
          <p:cNvPr id="15" name="train-2">
            <a:extLst xmlns:a="http://schemas.openxmlformats.org/drawingml/2006/main">
              <a:ext uri="{FF2B5EF4-FFF2-40B4-BE49-F238E27FC236}">
                <a16:creationId xmlns:a16="http://schemas.microsoft.com/office/drawing/2014/main" id="{4EB97E8A-68CF-4703-AF40-4E47F85B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71750"/>
            <a:ext cx="203835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01B15"/>
          </a:solidFill>
          <a:ln xmlns:a="http://schemas.openxmlformats.org/drawingml/2006/main" w="19050">
            <a:solidFill>
              <a:srgbClr val="9FFFC3"/>
            </a:solidFill>
            <a:prstDash val="solid"/>
          </a:ln>
        </p:spPr>
      </p:sp>
      <p:sp>
        <p:nvSpPr>
          <p:cNvPr id="16" name="train-title-2">
            <a:extLst xmlns:a="http://schemas.openxmlformats.org/drawingml/2006/main">
              <a:ext uri="{FF2B5EF4-FFF2-40B4-BE49-F238E27FC236}">
                <a16:creationId xmlns:a16="http://schemas.microsoft.com/office/drawing/2014/main" id="{96FA6462-6AE6-4CBB-8D66-A44EA448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81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9FFFC3"/>
                </a:solidFill>
              </a:defRPr>
            </a:pPr>
            <a:r>
              <a:rPr sz="1200" b="1">
                <a:solidFill>
                  <a:srgbClr val="9FFFC3"/>
                </a:solidFill>
              </a:rPr>
              <a:t>GEMMA 4 E2B</a:t>
            </a:r>
          </a:p>
        </p:txBody>
      </p:sp>
      <p:sp>
        <p:nvSpPr>
          <p:cNvPr id="17" name="train-main-2">
            <a:extLst xmlns:a="http://schemas.openxmlformats.org/drawingml/2006/main">
              <a:ext uri="{FF2B5EF4-FFF2-40B4-BE49-F238E27FC236}">
                <a16:creationId xmlns:a16="http://schemas.microsoft.com/office/drawing/2014/main" id="{D4F80221-7571-4459-BFBB-6458F61B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861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4F1DF"/>
                </a:solidFill>
              </a:defRPr>
            </a:pPr>
            <a:r>
              <a:rPr sz="1500" b="1">
                <a:solidFill>
                  <a:srgbClr val="F4F1DF"/>
                </a:solidFill>
              </a:rPr>
              <a:t>96-token ceiling</a:t>
            </a:r>
          </a:p>
        </p:txBody>
      </p:sp>
      <p:sp>
        <p:nvSpPr>
          <p:cNvPr id="18" name="train-sub-2">
            <a:extLst xmlns:a="http://schemas.openxmlformats.org/drawingml/2006/main">
              <a:ext uri="{FF2B5EF4-FFF2-40B4-BE49-F238E27FC236}">
                <a16:creationId xmlns:a16="http://schemas.microsoft.com/office/drawing/2014/main" id="{4514790D-BE50-4F08-88D4-82ABB67C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7719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A8B8AD"/>
                </a:solidFill>
              </a:defRPr>
            </a:pPr>
            <a:r>
              <a:rPr sz="1050" b="0">
                <a:solidFill>
                  <a:srgbClr val="A8B8AD"/>
                </a:solidFill>
              </a:rPr>
              <a:t>post-contract answer</a:t>
            </a:r>
          </a:p>
        </p:txBody>
      </p:sp>
      <p:sp>
        <p:nvSpPr>
          <p:cNvPr id="19" name="train-3">
            <a:extLst xmlns:a="http://schemas.openxmlformats.org/drawingml/2006/main">
              <a:ext uri="{FF2B5EF4-FFF2-40B4-BE49-F238E27FC236}">
                <a16:creationId xmlns:a16="http://schemas.microsoft.com/office/drawing/2014/main" id="{4C67B1CD-2228-462E-8EC3-18294106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71750"/>
            <a:ext cx="203835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01B15"/>
          </a:solidFill>
          <a:ln xmlns:a="http://schemas.openxmlformats.org/drawingml/2006/main" w="19050">
            <a:solidFill>
              <a:srgbClr val="173324"/>
            </a:solidFill>
            <a:prstDash val="solid"/>
          </a:ln>
        </p:spPr>
      </p:sp>
      <p:sp>
        <p:nvSpPr>
          <p:cNvPr id="20" name="train-title-3">
            <a:extLst xmlns:a="http://schemas.openxmlformats.org/drawingml/2006/main">
              <a:ext uri="{FF2B5EF4-FFF2-40B4-BE49-F238E27FC236}">
                <a16:creationId xmlns:a16="http://schemas.microsoft.com/office/drawing/2014/main" id="{089AA66F-59D3-4ADB-891E-EDA05E0F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81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642B"/>
                </a:solidFill>
              </a:defRPr>
            </a:pPr>
            <a:r>
              <a:rPr sz="1200" b="1">
                <a:solidFill>
                  <a:srgbClr val="FF642B"/>
                </a:solidFill>
              </a:rPr>
              <a:t>ADJUDICATION</a:t>
            </a:r>
          </a:p>
        </p:txBody>
      </p:sp>
      <p:sp>
        <p:nvSpPr>
          <p:cNvPr id="21" name="train-main-3">
            <a:extLst xmlns:a="http://schemas.openxmlformats.org/drawingml/2006/main">
              <a:ext uri="{FF2B5EF4-FFF2-40B4-BE49-F238E27FC236}">
                <a16:creationId xmlns:a16="http://schemas.microsoft.com/office/drawing/2014/main" id="{82D107AD-AB30-4040-9077-B471FC63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861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4F1DF"/>
                </a:solidFill>
              </a:defRPr>
            </a:pPr>
            <a:r>
              <a:rPr sz="1500" b="1">
                <a:solidFill>
                  <a:srgbClr val="F4F1DF"/>
                </a:solidFill>
              </a:rPr>
              <a:t>Proof + judges</a:t>
            </a:r>
          </a:p>
        </p:txBody>
      </p:sp>
      <p:sp>
        <p:nvSpPr>
          <p:cNvPr id="22" name="train-sub-3">
            <a:extLst xmlns:a="http://schemas.openxmlformats.org/drawingml/2006/main">
              <a:ext uri="{FF2B5EF4-FFF2-40B4-BE49-F238E27FC236}">
                <a16:creationId xmlns:a16="http://schemas.microsoft.com/office/drawing/2014/main" id="{E357BCC8-7876-4FB9-8822-D48F7616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719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A8B8AD"/>
                </a:solidFill>
              </a:defRPr>
            </a:pPr>
            <a:r>
              <a:rPr sz="1050" b="0">
                <a:solidFill>
                  <a:srgbClr val="A8B8AD"/>
                </a:solidFill>
              </a:rPr>
              <a:t>GLM / Codex / AGY</a:t>
            </a:r>
          </a:p>
        </p:txBody>
      </p:sp>
      <p:sp>
        <p:nvSpPr>
          <p:cNvPr id="23" name="train-4">
            <a:extLst xmlns:a="http://schemas.openxmlformats.org/drawingml/2006/main">
              <a:ext uri="{FF2B5EF4-FFF2-40B4-BE49-F238E27FC236}">
                <a16:creationId xmlns:a16="http://schemas.microsoft.com/office/drawing/2014/main" id="{A55CDC73-F413-49C2-805D-0A136070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71750"/>
            <a:ext cx="203835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01B15"/>
          </a:solidFill>
          <a:ln xmlns:a="http://schemas.openxmlformats.org/drawingml/2006/main" w="19050">
            <a:solidFill>
              <a:srgbClr val="173324"/>
            </a:solidFill>
            <a:prstDash val="solid"/>
          </a:ln>
        </p:spPr>
      </p:sp>
      <p:sp>
        <p:nvSpPr>
          <p:cNvPr id="24" name="train-title-4">
            <a:extLst xmlns:a="http://schemas.openxmlformats.org/drawingml/2006/main">
              <a:ext uri="{FF2B5EF4-FFF2-40B4-BE49-F238E27FC236}">
                <a16:creationId xmlns:a16="http://schemas.microsoft.com/office/drawing/2014/main" id="{78927A03-3914-4BD7-A125-3BF8E704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781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642B"/>
                </a:solidFill>
              </a:defRPr>
            </a:pPr>
            <a:r>
              <a:rPr sz="1200" b="1">
                <a:solidFill>
                  <a:srgbClr val="FF642B"/>
                </a:solidFill>
              </a:rPr>
              <a:t>REGRESSION</a:t>
            </a:r>
          </a:p>
        </p:txBody>
      </p:sp>
      <p:sp>
        <p:nvSpPr>
          <p:cNvPr id="25" name="train-main-4">
            <a:extLst xmlns:a="http://schemas.openxmlformats.org/drawingml/2006/main">
              <a:ext uri="{FF2B5EF4-FFF2-40B4-BE49-F238E27FC236}">
                <a16:creationId xmlns:a16="http://schemas.microsoft.com/office/drawing/2014/main" id="{F7870C39-8E3D-425A-9667-A9CEF4CF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2861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4F1DF"/>
                </a:solidFill>
              </a:defRPr>
            </a:pPr>
            <a:r>
              <a:rPr sz="1500" b="1">
                <a:solidFill>
                  <a:srgbClr val="F4F1DF"/>
                </a:solidFill>
              </a:rPr>
              <a:t>neural sweep</a:t>
            </a:r>
          </a:p>
        </p:txBody>
      </p:sp>
      <p:sp>
        <p:nvSpPr>
          <p:cNvPr id="26" name="train-sub-4">
            <a:extLst xmlns:a="http://schemas.openxmlformats.org/drawingml/2006/main">
              <a:ext uri="{FF2B5EF4-FFF2-40B4-BE49-F238E27FC236}">
                <a16:creationId xmlns:a16="http://schemas.microsoft.com/office/drawing/2014/main" id="{75FEC028-E252-4726-97EF-858148D6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7719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A8B8AD"/>
                </a:solidFill>
              </a:defRPr>
            </a:pPr>
            <a:r>
              <a:rPr sz="1050" b="0">
                <a:solidFill>
                  <a:srgbClr val="A8B8AD"/>
                </a:solidFill>
              </a:rPr>
              <a:t>sentiment only</a:t>
            </a:r>
          </a:p>
        </p:txBody>
      </p:sp>
      <p:sp>
        <p:nvSpPr>
          <p:cNvPr id="27" name="training-env">
            <a:extLst xmlns:a="http://schemas.openxmlformats.org/drawingml/2006/main">
              <a:ext uri="{FF2B5EF4-FFF2-40B4-BE49-F238E27FC236}">
                <a16:creationId xmlns:a16="http://schemas.microsoft.com/office/drawing/2014/main" id="{165F7140-2E34-47F2-9C56-CF12992F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4F1DF"/>
                </a:solidFill>
              </a:defRPr>
            </a:pPr>
            <a:r>
              <a:rPr sz="1350" b="1">
                <a:solidFill>
                  <a:srgbClr val="F4F1DF"/>
                </a:solidFill>
              </a:rPr>
              <a:t>AMD ROCm 7.2  •  PyTorch 2.9  •  Q8 FunctionGemma  •  text-only LiteRT E2B</a:t>
            </a:r>
          </a:p>
        </p:txBody>
      </p:sp>
      <p:sp>
        <p:nvSpPr>
          <p:cNvPr id="28" name="training-integrity">
            <a:extLst xmlns:a="http://schemas.openxmlformats.org/drawingml/2006/main">
              <a:ext uri="{FF2B5EF4-FFF2-40B4-BE49-F238E27FC236}">
                <a16:creationId xmlns:a16="http://schemas.microsoft.com/office/drawing/2014/main" id="{54E80520-FA70-4E5C-A788-B7DB71EA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A8B8AD"/>
                </a:solidFill>
              </a:defRPr>
            </a:pPr>
            <a:r>
              <a:rPr sz="1275" b="0">
                <a:solidFill>
                  <a:srgbClr val="A8B8AD"/>
                </a:solidFill>
              </a:rPr>
              <a:t>4,400 outputs; 2,621 mechanical verdicts; 1,779 semantic judgments.</a:t>
            </a:r>
          </a:p>
        </p:txBody>
      </p:sp>
      <p:sp>
        <p:nvSpPr>
          <p:cNvPr id="29" name="footer-Source: ">
            <a:extLst xmlns:a="http://schemas.openxmlformats.org/drawingml/2006/main">
              <a:ext uri="{FF2B5EF4-FFF2-40B4-BE49-F238E27FC236}">
                <a16:creationId xmlns:a16="http://schemas.microsoft.com/office/drawing/2014/main" id="{2B3CF943-E8D1-41CA-B142-1E41555D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87060"/>
                </a:solidFill>
              </a:defRPr>
            </a:pPr>
            <a:r>
              <a:rPr sz="825" b="0">
                <a:solidFill>
                  <a:srgbClr val="587060"/>
                </a:solidFill>
              </a:rPr>
              <a:t>Source: reports/public/router-ml-v3.md; reports/public/fireworks-champion-v3.md</a:t>
            </a:r>
          </a:p>
        </p:txBody>
      </p:sp>
    </p:spTree>
    <p:extLst>
      <p:ext uri="{BB962C8B-B14F-4D97-AF65-F5344CB8AC3E}">
        <p14:creationId xmlns:p14="http://schemas.microsoft.com/office/powerpoint/2010/main" val="6351887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8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492C33-3EC9-499C-9B02-1292876D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42B"/>
          </a:solidFill>
          <a:ln xmlns:a="http://schemas.openxmlformats.org/drawingml/2006/main" w="0">
            <a:noFill/>
          </a:ln>
        </p:spPr>
      </p:sp>
      <p:sp>
        <p:nvSpPr>
          <p:cNvPr id="2" name="eyebrow-6">
            <a:extLst xmlns:a="http://schemas.openxmlformats.org/drawingml/2006/main">
              <a:ext uri="{FF2B5EF4-FFF2-40B4-BE49-F238E27FC236}">
                <a16:creationId xmlns:a16="http://schemas.microsoft.com/office/drawing/2014/main" id="{6CDFB2CA-FC35-4058-80A2-F8213383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642B"/>
                </a:solidFill>
              </a:defRPr>
            </a:pPr>
            <a:r>
              <a:rPr sz="1200" b="1">
                <a:solidFill>
                  <a:srgbClr val="FF642B"/>
                </a:solidFill>
              </a:rPr>
              <a:t>PROOFROUTE // AMD ACT II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48B63D8B-8A82-4797-8041-91FBC78C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857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9FFFC3"/>
                </a:solidFill>
              </a:defRPr>
            </a:pPr>
            <a:r>
              <a:rPr sz="1125" b="1">
                <a:solidFill>
                  <a:srgbClr val="9FFFC3"/>
                </a:solidFill>
              </a:rPr>
              <a:t>06 / 06</a:t>
            </a:r>
          </a:p>
        </p:txBody>
      </p:sp>
      <p:sp>
        <p:nvSpPr>
          <p:cNvPr id="4" name="title-6">
            <a:extLst xmlns:a="http://schemas.openxmlformats.org/drawingml/2006/main">
              <a:ext uri="{FF2B5EF4-FFF2-40B4-BE49-F238E27FC236}">
                <a16:creationId xmlns:a16="http://schemas.microsoft.com/office/drawing/2014/main" id="{16E31E85-20E7-4DF5-940F-60AAE3CF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1DF"/>
                </a:solidFill>
              </a:defRPr>
            </a:pPr>
            <a:r>
              <a:rPr sz="2925" b="1">
                <a:solidFill>
                  <a:srgbClr val="F4F1DF"/>
                </a:solidFill>
              </a:rPr>
              <a:t>Measured risk keeps local routing honest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A24044-4007-4A40-90E2-B437A2E7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324"/>
          </a:solidFill>
          <a:ln xmlns:a="http://schemas.openxmlformats.org/drawingml/2006/main" w="0">
            <a:noFill/>
          </a:ln>
        </p:spPr>
      </p:sp>
      <p:sp>
        <p:nvSpPr>
          <p:cNvPr id="6" name="e2b-raw-box">
            <a:extLst xmlns:a="http://schemas.openxmlformats.org/drawingml/2006/main">
              <a:ext uri="{FF2B5EF4-FFF2-40B4-BE49-F238E27FC236}">
                <a16:creationId xmlns:a16="http://schemas.microsoft.com/office/drawing/2014/main" id="{1659E549-1D20-4992-8347-995A35DA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52600"/>
            <a:ext cx="3381375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1B15"/>
          </a:solidFill>
          <a:ln xmlns:a="http://schemas.openxmlformats.org/drawingml/2006/main" w="19050">
            <a:solidFill>
              <a:srgbClr val="173324"/>
            </a:solidFill>
            <a:prstDash val="solid"/>
          </a:ln>
        </p:spPr>
      </p:sp>
      <p:sp>
        <p:nvSpPr>
          <p:cNvPr id="7" name="e2b-raw-value">
            <a:extLst xmlns:a="http://schemas.openxmlformats.org/drawingml/2006/main">
              <a:ext uri="{FF2B5EF4-FFF2-40B4-BE49-F238E27FC236}">
                <a16:creationId xmlns:a16="http://schemas.microsoft.com/office/drawing/2014/main" id="{979D4E00-03BC-4D7E-8FC9-B31AEB2B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300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4F1DF"/>
                </a:solidFill>
              </a:defRPr>
            </a:pPr>
            <a:r>
              <a:rPr sz="2850" b="1">
                <a:solidFill>
                  <a:srgbClr val="F4F1DF"/>
                </a:solidFill>
              </a:rPr>
              <a:t>2,183</a:t>
            </a:r>
          </a:p>
        </p:txBody>
      </p:sp>
      <p:sp>
        <p:nvSpPr>
          <p:cNvPr id="8" name="e2b-raw-label">
            <a:extLst xmlns:a="http://schemas.openxmlformats.org/drawingml/2006/main">
              <a:ext uri="{FF2B5EF4-FFF2-40B4-BE49-F238E27FC236}">
                <a16:creationId xmlns:a16="http://schemas.microsoft.com/office/drawing/2014/main" id="{EB3FC28A-D558-4448-8936-08371C49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B8AD"/>
                </a:solidFill>
              </a:defRPr>
            </a:pPr>
            <a:r>
              <a:rPr sz="1200" b="0">
                <a:solidFill>
                  <a:srgbClr val="A8B8AD"/>
                </a:solidFill>
              </a:rPr>
              <a:t>correct E2B answers • 4,400-task corpus</a:t>
            </a:r>
          </a:p>
        </p:txBody>
      </p:sp>
      <p:sp>
        <p:nvSpPr>
          <p:cNvPr id="9" name="e2b-precision-box">
            <a:extLst xmlns:a="http://schemas.openxmlformats.org/drawingml/2006/main">
              <a:ext uri="{FF2B5EF4-FFF2-40B4-BE49-F238E27FC236}">
                <a16:creationId xmlns:a16="http://schemas.microsoft.com/office/drawing/2014/main" id="{86B1FE14-A028-4D10-8EDE-539BEB97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52600"/>
            <a:ext cx="3381375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1B15"/>
          </a:solidFill>
          <a:ln xmlns:a="http://schemas.openxmlformats.org/drawingml/2006/main" w="19050">
            <a:solidFill>
              <a:srgbClr val="173324"/>
            </a:solidFill>
            <a:prstDash val="solid"/>
          </a:ln>
        </p:spPr>
      </p:sp>
      <p:sp>
        <p:nvSpPr>
          <p:cNvPr id="10" name="e2b-precision-value">
            <a:extLst xmlns:a="http://schemas.openxmlformats.org/drawingml/2006/main">
              <a:ext uri="{FF2B5EF4-FFF2-40B4-BE49-F238E27FC236}">
                <a16:creationId xmlns:a16="http://schemas.microsoft.com/office/drawing/2014/main" id="{BA1E8261-7A36-4E96-B7FF-C2FE6839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24050"/>
            <a:ext cx="300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9FFFC3"/>
                </a:solidFill>
              </a:defRPr>
            </a:pPr>
            <a:r>
              <a:rPr sz="2850" b="1">
                <a:solidFill>
                  <a:srgbClr val="9FFFC3"/>
                </a:solidFill>
              </a:rPr>
              <a:t>95.95%</a:t>
            </a:r>
          </a:p>
        </p:txBody>
      </p:sp>
      <p:sp>
        <p:nvSpPr>
          <p:cNvPr id="11" name="e2b-precision-label">
            <a:extLst xmlns:a="http://schemas.openxmlformats.org/drawingml/2006/main">
              <a:ext uri="{FF2B5EF4-FFF2-40B4-BE49-F238E27FC236}">
                <a16:creationId xmlns:a16="http://schemas.microsoft.com/office/drawing/2014/main" id="{8BF6E10C-B728-452F-B230-F2515F8E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3365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B8AD"/>
                </a:solidFill>
              </a:defRPr>
            </a:pPr>
            <a:r>
              <a:rPr sz="1200" b="0">
                <a:solidFill>
                  <a:srgbClr val="A8B8AD"/>
                </a:solidFill>
              </a:rPr>
              <a:t>protected precision • best neural challenger</a:t>
            </a:r>
          </a:p>
        </p:txBody>
      </p:sp>
      <p:sp>
        <p:nvSpPr>
          <p:cNvPr id="12" name="e2b-coverage-box">
            <a:extLst xmlns:a="http://schemas.openxmlformats.org/drawingml/2006/main">
              <a:ext uri="{FF2B5EF4-FFF2-40B4-BE49-F238E27FC236}">
                <a16:creationId xmlns:a16="http://schemas.microsoft.com/office/drawing/2014/main" id="{D0EF2106-8FAC-436E-93EE-9132A834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52600"/>
            <a:ext cx="3381375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1B15"/>
          </a:solidFill>
          <a:ln xmlns:a="http://schemas.openxmlformats.org/drawingml/2006/main" w="19050">
            <a:solidFill>
              <a:srgbClr val="173324"/>
            </a:solidFill>
            <a:prstDash val="solid"/>
          </a:ln>
        </p:spPr>
      </p:sp>
      <p:sp>
        <p:nvSpPr>
          <p:cNvPr id="13" name="e2b-coverage-value">
            <a:extLst xmlns:a="http://schemas.openxmlformats.org/drawingml/2006/main">
              <a:ext uri="{FF2B5EF4-FFF2-40B4-BE49-F238E27FC236}">
                <a16:creationId xmlns:a16="http://schemas.microsoft.com/office/drawing/2014/main" id="{AF1C4297-3315-4662-B4D3-5ED87B41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24050"/>
            <a:ext cx="300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642B"/>
                </a:solidFill>
              </a:defRPr>
            </a:pPr>
            <a:r>
              <a:rPr sz="2850" b="1">
                <a:solidFill>
                  <a:srgbClr val="FF642B"/>
                </a:solidFill>
              </a:rPr>
              <a:t>8.41%</a:t>
            </a:r>
          </a:p>
        </p:txBody>
      </p:sp>
      <p:sp>
        <p:nvSpPr>
          <p:cNvPr id="14" name="e2b-coverage-label">
            <a:extLst xmlns:a="http://schemas.openxmlformats.org/drawingml/2006/main">
              <a:ext uri="{FF2B5EF4-FFF2-40B4-BE49-F238E27FC236}">
                <a16:creationId xmlns:a16="http://schemas.microsoft.com/office/drawing/2014/main" id="{562799FE-B3D0-473E-A135-301C4A11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3365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B8AD"/>
                </a:solidFill>
              </a:defRPr>
            </a:pPr>
            <a:r>
              <a:rPr sz="1200" b="0">
                <a:solidFill>
                  <a:srgbClr val="A8B8AD"/>
                </a:solidFill>
              </a:rPr>
              <a:t>protected coverage • 74 of 880</a:t>
            </a:r>
          </a:p>
        </p:txBody>
      </p:sp>
      <p:sp>
        <p:nvSpPr>
          <p:cNvPr id="15" name="ship">
            <a:extLst xmlns:a="http://schemas.openxmlformats.org/drawingml/2006/main">
              <a:ext uri="{FF2B5EF4-FFF2-40B4-BE49-F238E27FC236}">
                <a16:creationId xmlns:a16="http://schemas.microsoft.com/office/drawing/2014/main" id="{5F13D54D-937F-4325-B1FF-F4A720A9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0"/>
            <a:ext cx="1100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20E"/>
          </a:solidFill>
          <a:ln xmlns:a="http://schemas.openxmlformats.org/drawingml/2006/main" w="19050">
            <a:solidFill>
              <a:srgbClr val="173324"/>
            </a:solidFill>
            <a:prstDash val="solid"/>
          </a:ln>
        </p:spPr>
      </p:sp>
      <p:sp>
        <p:nvSpPr>
          <p:cNvPr id="16" name="ship-title">
            <a:extLst xmlns:a="http://schemas.openxmlformats.org/drawingml/2006/main">
              <a:ext uri="{FF2B5EF4-FFF2-40B4-BE49-F238E27FC236}">
                <a16:creationId xmlns:a16="http://schemas.microsoft.com/office/drawing/2014/main" id="{1D3FEEA0-4437-4BFB-861D-0600B454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28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642B"/>
                </a:solidFill>
              </a:defRPr>
            </a:pPr>
            <a:r>
              <a:rPr sz="1425" b="1">
                <a:solidFill>
                  <a:srgbClr val="FF642B"/>
                </a:solidFill>
              </a:rPr>
              <a:t>THE PUBLIC RELEASE</a:t>
            </a:r>
          </a:p>
        </p:txBody>
      </p:sp>
      <p:sp>
        <p:nvSpPr>
          <p:cNvPr id="17" name="ship-main">
            <a:extLst xmlns:a="http://schemas.openxmlformats.org/drawingml/2006/main">
              <a:ext uri="{FF2B5EF4-FFF2-40B4-BE49-F238E27FC236}">
                <a16:creationId xmlns:a16="http://schemas.microsoft.com/office/drawing/2014/main" id="{D0F6E092-8097-4305-8B27-3E34EE45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4F1DF"/>
                </a:solidFill>
              </a:defRPr>
            </a:pPr>
            <a:r>
              <a:rPr sz="2850" b="1">
                <a:solidFill>
                  <a:srgbClr val="F4F1DF"/>
                </a:solidFill>
              </a:rPr>
              <a:t>2.67 GB</a:t>
            </a:r>
          </a:p>
        </p:txBody>
      </p:sp>
      <p:sp>
        <p:nvSpPr>
          <p:cNvPr id="18" name="ship-label">
            <a:extLst xmlns:a="http://schemas.openxmlformats.org/drawingml/2006/main">
              <a:ext uri="{FF2B5EF4-FFF2-40B4-BE49-F238E27FC236}">
                <a16:creationId xmlns:a16="http://schemas.microsoft.com/office/drawing/2014/main" id="{BF6FB72F-B6E3-4AD8-9793-F8EF35B8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8B8AD"/>
                </a:solidFill>
              </a:defRPr>
            </a:pPr>
            <a:r>
              <a:rPr sz="1125" b="0">
                <a:solidFill>
                  <a:srgbClr val="A8B8AD"/>
                </a:solidFill>
              </a:rPr>
              <a:t>compressed linux/amd64 image</a:t>
            </a:r>
          </a:p>
        </p:txBody>
      </p:sp>
      <p:sp>
        <p:nvSpPr>
          <p:cNvPr id="19" name="ship-tests">
            <a:extLst xmlns:a="http://schemas.openxmlformats.org/drawingml/2006/main">
              <a:ext uri="{FF2B5EF4-FFF2-40B4-BE49-F238E27FC236}">
                <a16:creationId xmlns:a16="http://schemas.microsoft.com/office/drawing/2014/main" id="{C4CFC618-5CA7-4165-888B-BD100B74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291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9FFFC3"/>
                </a:solidFill>
              </a:defRPr>
            </a:pPr>
            <a:r>
              <a:rPr sz="2400" b="1">
                <a:solidFill>
                  <a:srgbClr val="9FFFC3"/>
                </a:solidFill>
              </a:rPr>
              <a:t>712 TESTS</a:t>
            </a:r>
          </a:p>
        </p:txBody>
      </p:sp>
      <p:sp>
        <p:nvSpPr>
          <p:cNvPr id="20" name="ship-tests-label">
            <a:extLst xmlns:a="http://schemas.openxmlformats.org/drawingml/2006/main">
              <a:ext uri="{FF2B5EF4-FFF2-40B4-BE49-F238E27FC236}">
                <a16:creationId xmlns:a16="http://schemas.microsoft.com/office/drawing/2014/main" id="{C2021C2C-20AA-4FD3-8883-7AACC7A1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57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8B8AD"/>
                </a:solidFill>
              </a:defRPr>
            </a:pPr>
            <a:r>
              <a:rPr sz="1125" b="0">
                <a:solidFill>
                  <a:srgbClr val="A8B8AD"/>
                </a:solidFill>
              </a:rPr>
              <a:t>CI + Docker gates green</a:t>
            </a:r>
          </a:p>
        </p:txBody>
      </p:sp>
      <p:sp>
        <p:nvSpPr>
          <p:cNvPr id="21" name="ship-runtime">
            <a:extLst xmlns:a="http://schemas.openxmlformats.org/drawingml/2006/main">
              <a:ext uri="{FF2B5EF4-FFF2-40B4-BE49-F238E27FC236}">
                <a16:creationId xmlns:a16="http://schemas.microsoft.com/office/drawing/2014/main" id="{68D447B4-1708-4F71-9972-063CDDEE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2291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F642B"/>
                </a:solidFill>
              </a:defRPr>
            </a:pPr>
            <a:r>
              <a:rPr sz="2400" b="1">
                <a:solidFill>
                  <a:srgbClr val="FF642B"/>
                </a:solidFill>
              </a:rPr>
              <a:t>2 SEC</a:t>
            </a:r>
          </a:p>
        </p:txBody>
      </p:sp>
      <p:sp>
        <p:nvSpPr>
          <p:cNvPr id="22" name="ship-runtime-label">
            <a:extLst xmlns:a="http://schemas.openxmlformats.org/drawingml/2006/main">
              <a:ext uri="{FF2B5EF4-FFF2-40B4-BE49-F238E27FC236}">
                <a16:creationId xmlns:a16="http://schemas.microsoft.com/office/drawing/2014/main" id="{AE489022-554B-40D6-B0FF-0E5E29A3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857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8B8AD"/>
                </a:solidFill>
              </a:defRPr>
            </a:pPr>
            <a:r>
              <a:rPr sz="1125" b="0">
                <a:solidFill>
                  <a:srgbClr val="A8B8AD"/>
                </a:solidFill>
              </a:rPr>
              <a:t>exact image resource gate</a:t>
            </a:r>
          </a:p>
        </p:txBody>
      </p:sp>
      <p:sp>
        <p:nvSpPr>
          <p:cNvPr id="23" name="ship-close">
            <a:extLst xmlns:a="http://schemas.openxmlformats.org/drawingml/2006/main">
              <a:ext uri="{FF2B5EF4-FFF2-40B4-BE49-F238E27FC236}">
                <a16:creationId xmlns:a16="http://schemas.microsoft.com/office/drawing/2014/main" id="{9915822E-DF5E-4CC1-BD9E-A7CCF887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100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4F1DF"/>
                </a:solidFill>
              </a:defRPr>
            </a:pPr>
            <a:r>
              <a:rPr sz="1950" b="1">
                <a:solidFill>
                  <a:srgbClr val="F4F1DF"/>
                </a:solidFill>
              </a:rPr>
              <a:t>84.2% official control. Accuracy protected.</a:t>
            </a:r>
          </a:p>
        </p:txBody>
      </p:sp>
      <p:sp>
        <p:nvSpPr>
          <p:cNvPr id="24" name="footer-GHCR: gh">
            <a:extLst xmlns:a="http://schemas.openxmlformats.org/drawingml/2006/main">
              <a:ext uri="{FF2B5EF4-FFF2-40B4-BE49-F238E27FC236}">
                <a16:creationId xmlns:a16="http://schemas.microsoft.com/office/drawing/2014/main" id="{2900196D-7A43-4FAB-B9BC-109DB806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87060"/>
                </a:solidFill>
              </a:defRPr>
            </a:pPr>
            <a:r>
              <a:rPr sz="825" b="0">
                <a:solidFill>
                  <a:srgbClr val="587060"/>
                </a:solidFill>
              </a:rPr>
              <a:t>GHCR: ghcr.io/rvbernucci/track1-token-router:v3.8.2-e2b-contract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20301C-3326-4D1B-8F0A-9705C370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42B"/>
          </a:solidFill>
          <a:ln xmlns:a="http://schemas.openxmlformats.org/drawingml/2006/main" w="0">
            <a:noFill/>
          </a:ln>
        </p:spPr>
      </p:sp>
      <p:sp>
        <p:nvSpPr>
          <p:cNvPr id="26" name="eyebrow-6-top">
            <a:extLst xmlns:a="http://schemas.openxmlformats.org/drawingml/2006/main">
              <a:ext uri="{FF2B5EF4-FFF2-40B4-BE49-F238E27FC236}">
                <a16:creationId xmlns:a16="http://schemas.microsoft.com/office/drawing/2014/main" id="{73CE2363-F94A-4A2A-A212-CFD17EE3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642B"/>
                </a:solidFill>
              </a:defRPr>
            </a:pPr>
            <a:r>
              <a:rPr sz="1200" b="1">
                <a:solidFill>
                  <a:srgbClr val="FF642B"/>
                </a:solidFill>
              </a:rPr>
              <a:t>PROOFROUTE // AMD ACT II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C6B220-2064-4871-A735-20596EC7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6"/>
          </a:solidFill>
          <a:ln xmlns:a="http://schemas.openxmlformats.org/drawingml/2006/main" w="0">
            <a:noFill/>
          </a:ln>
        </p:spPr>
      </p:sp>
      <p:sp>
        <p:nvSpPr>
          <p:cNvPr id="28" name="page-6-top">
            <a:extLst xmlns:a="http://schemas.openxmlformats.org/drawingml/2006/main">
              <a:ext uri="{FF2B5EF4-FFF2-40B4-BE49-F238E27FC236}">
                <a16:creationId xmlns:a16="http://schemas.microsoft.com/office/drawing/2014/main" id="{3B3AA6BE-4EAD-4052-983C-34B94C2E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9FFFC3"/>
                </a:solidFill>
              </a:defRPr>
            </a:pPr>
            <a:r>
              <a:rPr sz="1125" b="1">
                <a:solidFill>
                  <a:srgbClr val="9FFFC3"/>
                </a:solidFill>
              </a:rPr>
              <a:t>06 / 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ABCE65-5D92-490B-97DC-DE35ACAF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32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774942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2026-07-12T21:19:38.0620000Z</dcterms:created>
  <dcterms:modified xsi:type="dcterms:W3CDTF">2026-07-12T21:19:38.0620000Z</dcterms:modified>
</coreProperties>
</file>